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61" r:id="rId3"/>
    <p:sldId id="258" r:id="rId4"/>
    <p:sldId id="259" r:id="rId5"/>
    <p:sldId id="260" r:id="rId6"/>
    <p:sldId id="262" r:id="rId7"/>
    <p:sldId id="263" r:id="rId8"/>
    <p:sldId id="267" r:id="rId9"/>
    <p:sldId id="265" r:id="rId10"/>
    <p:sldId id="266" r:id="rId11"/>
    <p:sldId id="268"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93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p:restoredTop sz="86033"/>
  </p:normalViewPr>
  <p:slideViewPr>
    <p:cSldViewPr snapToGrid="0">
      <p:cViewPr varScale="1">
        <p:scale>
          <a:sx n="88" d="100"/>
          <a:sy n="88" d="100"/>
        </p:scale>
        <p:origin x="13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7B61EF-AF95-D143-BAFB-175BCAA9EC48}" type="doc">
      <dgm:prSet loTypeId="urn:microsoft.com/office/officeart/2005/8/layout/StepDownProcess" loCatId="" qsTypeId="urn:microsoft.com/office/officeart/2005/8/quickstyle/simple1" qsCatId="simple" csTypeId="urn:microsoft.com/office/officeart/2005/8/colors/accent0_3" csCatId="mainScheme" phldr="1"/>
      <dgm:spPr/>
      <dgm:t>
        <a:bodyPr/>
        <a:lstStyle/>
        <a:p>
          <a:endParaRPr lang="en-US"/>
        </a:p>
      </dgm:t>
    </dgm:pt>
    <dgm:pt modelId="{76AB3F1E-18D9-F840-BA01-0CE3D77B64D5}">
      <dgm:prSet phldrT="[Text]" custT="1"/>
      <dgm:spPr/>
      <dgm:t>
        <a:bodyPr/>
        <a:lstStyle/>
        <a:p>
          <a:r>
            <a:rPr lang="en-US" sz="2400" dirty="0">
              <a:latin typeface="Arial" panose="020B0604020202020204" pitchFamily="34" charset="0"/>
              <a:cs typeface="Arial" panose="020B0604020202020204" pitchFamily="34" charset="0"/>
            </a:rPr>
            <a:t>Phase 1: Data Preprocessing &amp; EDA</a:t>
          </a:r>
        </a:p>
      </dgm:t>
    </dgm:pt>
    <dgm:pt modelId="{E8073332-9DBA-A447-A250-C4D056E7B8D3}" type="parTrans" cxnId="{A61249BC-7EFC-704F-AADF-FE36C44827CB}">
      <dgm:prSet/>
      <dgm:spPr/>
      <dgm:t>
        <a:bodyPr/>
        <a:lstStyle/>
        <a:p>
          <a:endParaRPr lang="en-US" sz="2000"/>
        </a:p>
      </dgm:t>
    </dgm:pt>
    <dgm:pt modelId="{2196862A-25AE-5C45-8BF4-A9FE37E892C3}" type="sibTrans" cxnId="{A61249BC-7EFC-704F-AADF-FE36C44827CB}">
      <dgm:prSet/>
      <dgm:spPr/>
      <dgm:t>
        <a:bodyPr/>
        <a:lstStyle/>
        <a:p>
          <a:endParaRPr lang="en-US" sz="2000"/>
        </a:p>
      </dgm:t>
    </dgm:pt>
    <dgm:pt modelId="{F4A79463-7ADB-DE48-B488-D06B3FC30FCB}">
      <dgm:prSet custT="1"/>
      <dgm:spPr/>
      <dgm:t>
        <a:bodyPr/>
        <a:lstStyle/>
        <a:p>
          <a:r>
            <a:rPr lang="en-US" sz="2400" dirty="0">
              <a:latin typeface="Arial" panose="020B0604020202020204" pitchFamily="34" charset="0"/>
              <a:cs typeface="Arial" panose="020B0604020202020204" pitchFamily="34" charset="0"/>
            </a:rPr>
            <a:t>Phase 2: Feature Engineering</a:t>
          </a:r>
        </a:p>
      </dgm:t>
    </dgm:pt>
    <dgm:pt modelId="{54E99974-3874-AB4C-A0ED-87477ED4B448}" type="parTrans" cxnId="{B98CA8E0-D9FF-8C48-B0B3-2E7F7D2F788B}">
      <dgm:prSet/>
      <dgm:spPr/>
      <dgm:t>
        <a:bodyPr/>
        <a:lstStyle/>
        <a:p>
          <a:endParaRPr lang="en-US" sz="2000"/>
        </a:p>
      </dgm:t>
    </dgm:pt>
    <dgm:pt modelId="{0F3CF466-C7B3-6A42-B140-03F036DFD831}" type="sibTrans" cxnId="{B98CA8E0-D9FF-8C48-B0B3-2E7F7D2F788B}">
      <dgm:prSet/>
      <dgm:spPr/>
      <dgm:t>
        <a:bodyPr/>
        <a:lstStyle/>
        <a:p>
          <a:endParaRPr lang="en-US" sz="2000"/>
        </a:p>
      </dgm:t>
    </dgm:pt>
    <dgm:pt modelId="{154801E6-7032-A44B-BE2D-67FEE162E8EB}">
      <dgm:prSet custT="1"/>
      <dgm:spPr/>
      <dgm:t>
        <a:bodyPr/>
        <a:lstStyle/>
        <a:p>
          <a:r>
            <a:rPr lang="en-US" sz="2400" dirty="0">
              <a:latin typeface="Arial" panose="020B0604020202020204" pitchFamily="34" charset="0"/>
              <a:cs typeface="Arial" panose="020B0604020202020204" pitchFamily="34" charset="0"/>
            </a:rPr>
            <a:t>Phase 3: Model Training &amp; Hyperparameter Tuning</a:t>
          </a:r>
        </a:p>
      </dgm:t>
    </dgm:pt>
    <dgm:pt modelId="{72675876-5D71-C145-8B46-F275A7EBB303}" type="parTrans" cxnId="{6499E203-9F7D-9243-B1A4-734B57E28FB5}">
      <dgm:prSet/>
      <dgm:spPr/>
      <dgm:t>
        <a:bodyPr/>
        <a:lstStyle/>
        <a:p>
          <a:endParaRPr lang="en-US" sz="2000"/>
        </a:p>
      </dgm:t>
    </dgm:pt>
    <dgm:pt modelId="{B80B739B-DBF2-4A44-A197-C07D03B171E3}" type="sibTrans" cxnId="{6499E203-9F7D-9243-B1A4-734B57E28FB5}">
      <dgm:prSet/>
      <dgm:spPr/>
      <dgm:t>
        <a:bodyPr/>
        <a:lstStyle/>
        <a:p>
          <a:endParaRPr lang="en-US" sz="2000"/>
        </a:p>
      </dgm:t>
    </dgm:pt>
    <dgm:pt modelId="{40497F84-EDB8-2B47-BCB0-8FF08C20E087}">
      <dgm:prSet custT="1"/>
      <dgm:spPr/>
      <dgm:t>
        <a:bodyPr/>
        <a:lstStyle/>
        <a:p>
          <a:r>
            <a:rPr lang="en-US" sz="2400">
              <a:latin typeface="Arial" panose="020B0604020202020204" pitchFamily="34" charset="0"/>
              <a:cs typeface="Arial" panose="020B0604020202020204" pitchFamily="34" charset="0"/>
            </a:rPr>
            <a:t>Phase 4: Evaluation &amp; Qualitative Analysis</a:t>
          </a:r>
          <a:endParaRPr lang="en-US" sz="2400" dirty="0">
            <a:latin typeface="Arial" panose="020B0604020202020204" pitchFamily="34" charset="0"/>
            <a:cs typeface="Arial" panose="020B0604020202020204" pitchFamily="34" charset="0"/>
          </a:endParaRPr>
        </a:p>
      </dgm:t>
    </dgm:pt>
    <dgm:pt modelId="{5AAD2462-D962-8346-8761-CEDC90DCEE6E}" type="parTrans" cxnId="{B25EA811-F7E8-174A-ABDA-09CB5ABC7496}">
      <dgm:prSet/>
      <dgm:spPr/>
      <dgm:t>
        <a:bodyPr/>
        <a:lstStyle/>
        <a:p>
          <a:endParaRPr lang="en-US" sz="2000"/>
        </a:p>
      </dgm:t>
    </dgm:pt>
    <dgm:pt modelId="{5D6AC73E-FD6E-2E40-9BCC-38DFC5656C38}" type="sibTrans" cxnId="{B25EA811-F7E8-174A-ABDA-09CB5ABC7496}">
      <dgm:prSet/>
      <dgm:spPr/>
      <dgm:t>
        <a:bodyPr/>
        <a:lstStyle/>
        <a:p>
          <a:endParaRPr lang="en-US" sz="2000"/>
        </a:p>
      </dgm:t>
    </dgm:pt>
    <dgm:pt modelId="{CBE2D103-B9BC-D143-9458-C9A7327A1C46}" type="pres">
      <dgm:prSet presAssocID="{607B61EF-AF95-D143-BAFB-175BCAA9EC48}" presName="rootnode" presStyleCnt="0">
        <dgm:presLayoutVars>
          <dgm:chMax/>
          <dgm:chPref/>
          <dgm:dir/>
          <dgm:animLvl val="lvl"/>
        </dgm:presLayoutVars>
      </dgm:prSet>
      <dgm:spPr/>
    </dgm:pt>
    <dgm:pt modelId="{CF740522-D100-BB46-8C9C-2288841A0F50}" type="pres">
      <dgm:prSet presAssocID="{76AB3F1E-18D9-F840-BA01-0CE3D77B64D5}" presName="composite" presStyleCnt="0"/>
      <dgm:spPr/>
    </dgm:pt>
    <dgm:pt modelId="{68513D5D-7DE8-634B-AE98-4CDBF5D90263}" type="pres">
      <dgm:prSet presAssocID="{76AB3F1E-18D9-F840-BA01-0CE3D77B64D5}" presName="bentUpArrow1" presStyleLbl="alignImgPlace1" presStyleIdx="0" presStyleCnt="3" custLinFactNeighborX="-55195"/>
      <dgm:spPr>
        <a:noFill/>
      </dgm:spPr>
    </dgm:pt>
    <dgm:pt modelId="{AA7B1EBF-886A-F94F-95D8-FD98CDB56A9B}" type="pres">
      <dgm:prSet presAssocID="{76AB3F1E-18D9-F840-BA01-0CE3D77B64D5}" presName="ParentText" presStyleLbl="node1" presStyleIdx="0" presStyleCnt="4" custScaleX="265062">
        <dgm:presLayoutVars>
          <dgm:chMax val="1"/>
          <dgm:chPref val="1"/>
          <dgm:bulletEnabled val="1"/>
        </dgm:presLayoutVars>
      </dgm:prSet>
      <dgm:spPr/>
    </dgm:pt>
    <dgm:pt modelId="{181D13F4-C5DB-5247-B466-E8AC3CDD080C}" type="pres">
      <dgm:prSet presAssocID="{76AB3F1E-18D9-F840-BA01-0CE3D77B64D5}" presName="ChildText" presStyleLbl="revTx" presStyleIdx="0" presStyleCnt="3">
        <dgm:presLayoutVars>
          <dgm:chMax val="0"/>
          <dgm:chPref val="0"/>
          <dgm:bulletEnabled val="1"/>
        </dgm:presLayoutVars>
      </dgm:prSet>
      <dgm:spPr/>
    </dgm:pt>
    <dgm:pt modelId="{D0679343-13F6-B34A-B895-AC05680AFA2F}" type="pres">
      <dgm:prSet presAssocID="{2196862A-25AE-5C45-8BF4-A9FE37E892C3}" presName="sibTrans" presStyleCnt="0"/>
      <dgm:spPr/>
    </dgm:pt>
    <dgm:pt modelId="{C062710B-5E46-E541-AD2C-3A107F437CF0}" type="pres">
      <dgm:prSet presAssocID="{F4A79463-7ADB-DE48-B488-D06B3FC30FCB}" presName="composite" presStyleCnt="0"/>
      <dgm:spPr/>
    </dgm:pt>
    <dgm:pt modelId="{F104C937-B7C8-934D-9AA2-C7FD81492735}" type="pres">
      <dgm:prSet presAssocID="{F4A79463-7ADB-DE48-B488-D06B3FC30FCB}" presName="bentUpArrow1" presStyleLbl="alignImgPlace1" presStyleIdx="1" presStyleCnt="3" custLinFactX="43808" custLinFactY="-12892" custLinFactNeighborX="100000" custLinFactNeighborY="-100000"/>
      <dgm:spPr>
        <a:noFill/>
        <a:ln>
          <a:noFill/>
        </a:ln>
      </dgm:spPr>
    </dgm:pt>
    <dgm:pt modelId="{07AD5C5D-4800-9540-BEB3-4F847D93EA85}" type="pres">
      <dgm:prSet presAssocID="{F4A79463-7ADB-DE48-B488-D06B3FC30FCB}" presName="ParentText" presStyleLbl="node1" presStyleIdx="1" presStyleCnt="4" custScaleX="267298">
        <dgm:presLayoutVars>
          <dgm:chMax val="1"/>
          <dgm:chPref val="1"/>
          <dgm:bulletEnabled val="1"/>
        </dgm:presLayoutVars>
      </dgm:prSet>
      <dgm:spPr/>
    </dgm:pt>
    <dgm:pt modelId="{6584D534-1292-C143-961D-B1D3E4C1E213}" type="pres">
      <dgm:prSet presAssocID="{F4A79463-7ADB-DE48-B488-D06B3FC30FCB}" presName="ChildText" presStyleLbl="revTx" presStyleIdx="1" presStyleCnt="3">
        <dgm:presLayoutVars>
          <dgm:chMax val="0"/>
          <dgm:chPref val="0"/>
          <dgm:bulletEnabled val="1"/>
        </dgm:presLayoutVars>
      </dgm:prSet>
      <dgm:spPr/>
    </dgm:pt>
    <dgm:pt modelId="{FAE50C98-F869-714A-B335-180B7E860713}" type="pres">
      <dgm:prSet presAssocID="{0F3CF466-C7B3-6A42-B140-03F036DFD831}" presName="sibTrans" presStyleCnt="0"/>
      <dgm:spPr/>
    </dgm:pt>
    <dgm:pt modelId="{3DFB8CC0-79BC-4E49-A3EC-EBA5880B2902}" type="pres">
      <dgm:prSet presAssocID="{154801E6-7032-A44B-BE2D-67FEE162E8EB}" presName="composite" presStyleCnt="0"/>
      <dgm:spPr/>
    </dgm:pt>
    <dgm:pt modelId="{190766AB-CF8B-2349-9DF7-123BDBCE6D4A}" type="pres">
      <dgm:prSet presAssocID="{154801E6-7032-A44B-BE2D-67FEE162E8EB}" presName="bentUpArrow1" presStyleLbl="alignImgPlace1" presStyleIdx="2" presStyleCnt="3" custAng="5400000" custFlipVert="0" custFlipHor="1" custLinFactX="100000" custLinFactNeighborX="141257" custLinFactNeighborY="-89188"/>
      <dgm:spPr>
        <a:noFill/>
      </dgm:spPr>
    </dgm:pt>
    <dgm:pt modelId="{56059CAE-D0B0-D348-BC14-942F93A87761}" type="pres">
      <dgm:prSet presAssocID="{154801E6-7032-A44B-BE2D-67FEE162E8EB}" presName="ParentText" presStyleLbl="node1" presStyleIdx="2" presStyleCnt="4" custScaleX="267298">
        <dgm:presLayoutVars>
          <dgm:chMax val="1"/>
          <dgm:chPref val="1"/>
          <dgm:bulletEnabled val="1"/>
        </dgm:presLayoutVars>
      </dgm:prSet>
      <dgm:spPr/>
    </dgm:pt>
    <dgm:pt modelId="{FC0922B5-95D3-2441-AC95-2C96DAFF41A2}" type="pres">
      <dgm:prSet presAssocID="{154801E6-7032-A44B-BE2D-67FEE162E8EB}" presName="ChildText" presStyleLbl="revTx" presStyleIdx="2" presStyleCnt="3">
        <dgm:presLayoutVars>
          <dgm:chMax val="0"/>
          <dgm:chPref val="0"/>
          <dgm:bulletEnabled val="1"/>
        </dgm:presLayoutVars>
      </dgm:prSet>
      <dgm:spPr/>
    </dgm:pt>
    <dgm:pt modelId="{2A237091-B091-DF47-B98D-0187A56DFE40}" type="pres">
      <dgm:prSet presAssocID="{B80B739B-DBF2-4A44-A197-C07D03B171E3}" presName="sibTrans" presStyleCnt="0"/>
      <dgm:spPr/>
    </dgm:pt>
    <dgm:pt modelId="{A6703E19-3F67-4A46-A826-3312143EAFE8}" type="pres">
      <dgm:prSet presAssocID="{40497F84-EDB8-2B47-BCB0-8FF08C20E087}" presName="composite" presStyleCnt="0"/>
      <dgm:spPr/>
    </dgm:pt>
    <dgm:pt modelId="{CC6B1BC1-1742-6544-BCC9-7E0820C99399}" type="pres">
      <dgm:prSet presAssocID="{40497F84-EDB8-2B47-BCB0-8FF08C20E087}" presName="ParentText" presStyleLbl="node1" presStyleIdx="3" presStyleCnt="4" custScaleX="267298">
        <dgm:presLayoutVars>
          <dgm:chMax val="1"/>
          <dgm:chPref val="1"/>
          <dgm:bulletEnabled val="1"/>
        </dgm:presLayoutVars>
      </dgm:prSet>
      <dgm:spPr/>
    </dgm:pt>
  </dgm:ptLst>
  <dgm:cxnLst>
    <dgm:cxn modelId="{6499E203-9F7D-9243-B1A4-734B57E28FB5}" srcId="{607B61EF-AF95-D143-BAFB-175BCAA9EC48}" destId="{154801E6-7032-A44B-BE2D-67FEE162E8EB}" srcOrd="2" destOrd="0" parTransId="{72675876-5D71-C145-8B46-F275A7EBB303}" sibTransId="{B80B739B-DBF2-4A44-A197-C07D03B171E3}"/>
    <dgm:cxn modelId="{6677E510-EF07-CC4E-B27F-DA3A29ADBDD6}" type="presOf" srcId="{76AB3F1E-18D9-F840-BA01-0CE3D77B64D5}" destId="{AA7B1EBF-886A-F94F-95D8-FD98CDB56A9B}" srcOrd="0" destOrd="0" presId="urn:microsoft.com/office/officeart/2005/8/layout/StepDownProcess"/>
    <dgm:cxn modelId="{B25EA811-F7E8-174A-ABDA-09CB5ABC7496}" srcId="{607B61EF-AF95-D143-BAFB-175BCAA9EC48}" destId="{40497F84-EDB8-2B47-BCB0-8FF08C20E087}" srcOrd="3" destOrd="0" parTransId="{5AAD2462-D962-8346-8761-CEDC90DCEE6E}" sibTransId="{5D6AC73E-FD6E-2E40-9BCC-38DFC5656C38}"/>
    <dgm:cxn modelId="{9F82A35A-9085-4F45-9F6F-09553317EB48}" type="presOf" srcId="{40497F84-EDB8-2B47-BCB0-8FF08C20E087}" destId="{CC6B1BC1-1742-6544-BCC9-7E0820C99399}" srcOrd="0" destOrd="0" presId="urn:microsoft.com/office/officeart/2005/8/layout/StepDownProcess"/>
    <dgm:cxn modelId="{D74A9994-B5F0-4F40-B05F-569FA0C7EEFC}" type="presOf" srcId="{607B61EF-AF95-D143-BAFB-175BCAA9EC48}" destId="{CBE2D103-B9BC-D143-9458-C9A7327A1C46}" srcOrd="0" destOrd="0" presId="urn:microsoft.com/office/officeart/2005/8/layout/StepDownProcess"/>
    <dgm:cxn modelId="{A61249BC-7EFC-704F-AADF-FE36C44827CB}" srcId="{607B61EF-AF95-D143-BAFB-175BCAA9EC48}" destId="{76AB3F1E-18D9-F840-BA01-0CE3D77B64D5}" srcOrd="0" destOrd="0" parTransId="{E8073332-9DBA-A447-A250-C4D056E7B8D3}" sibTransId="{2196862A-25AE-5C45-8BF4-A9FE37E892C3}"/>
    <dgm:cxn modelId="{4F3BF9C2-165E-F34F-B56A-5F8AEF21DFA4}" type="presOf" srcId="{154801E6-7032-A44B-BE2D-67FEE162E8EB}" destId="{56059CAE-D0B0-D348-BC14-942F93A87761}" srcOrd="0" destOrd="0" presId="urn:microsoft.com/office/officeart/2005/8/layout/StepDownProcess"/>
    <dgm:cxn modelId="{B98CA8E0-D9FF-8C48-B0B3-2E7F7D2F788B}" srcId="{607B61EF-AF95-D143-BAFB-175BCAA9EC48}" destId="{F4A79463-7ADB-DE48-B488-D06B3FC30FCB}" srcOrd="1" destOrd="0" parTransId="{54E99974-3874-AB4C-A0ED-87477ED4B448}" sibTransId="{0F3CF466-C7B3-6A42-B140-03F036DFD831}"/>
    <dgm:cxn modelId="{442E97F5-E885-5F43-AD11-2D19F2497AAA}" type="presOf" srcId="{F4A79463-7ADB-DE48-B488-D06B3FC30FCB}" destId="{07AD5C5D-4800-9540-BEB3-4F847D93EA85}" srcOrd="0" destOrd="0" presId="urn:microsoft.com/office/officeart/2005/8/layout/StepDownProcess"/>
    <dgm:cxn modelId="{240A92CF-1682-5945-8AF8-BDD7B015AA1B}" type="presParOf" srcId="{CBE2D103-B9BC-D143-9458-C9A7327A1C46}" destId="{CF740522-D100-BB46-8C9C-2288841A0F50}" srcOrd="0" destOrd="0" presId="urn:microsoft.com/office/officeart/2005/8/layout/StepDownProcess"/>
    <dgm:cxn modelId="{A017D818-90BC-3B41-A0E4-920EDAC7DA47}" type="presParOf" srcId="{CF740522-D100-BB46-8C9C-2288841A0F50}" destId="{68513D5D-7DE8-634B-AE98-4CDBF5D90263}" srcOrd="0" destOrd="0" presId="urn:microsoft.com/office/officeart/2005/8/layout/StepDownProcess"/>
    <dgm:cxn modelId="{65CB98EE-5DE2-E24A-9D3A-392297FC50AD}" type="presParOf" srcId="{CF740522-D100-BB46-8C9C-2288841A0F50}" destId="{AA7B1EBF-886A-F94F-95D8-FD98CDB56A9B}" srcOrd="1" destOrd="0" presId="urn:microsoft.com/office/officeart/2005/8/layout/StepDownProcess"/>
    <dgm:cxn modelId="{CC732A8C-54A0-6143-9504-88FD109B62C5}" type="presParOf" srcId="{CF740522-D100-BB46-8C9C-2288841A0F50}" destId="{181D13F4-C5DB-5247-B466-E8AC3CDD080C}" srcOrd="2" destOrd="0" presId="urn:microsoft.com/office/officeart/2005/8/layout/StepDownProcess"/>
    <dgm:cxn modelId="{93E9EADB-FDA5-7B40-A03A-533400DB6F7B}" type="presParOf" srcId="{CBE2D103-B9BC-D143-9458-C9A7327A1C46}" destId="{D0679343-13F6-B34A-B895-AC05680AFA2F}" srcOrd="1" destOrd="0" presId="urn:microsoft.com/office/officeart/2005/8/layout/StepDownProcess"/>
    <dgm:cxn modelId="{44F59C4A-32D4-964D-BCF7-6D56F09D258D}" type="presParOf" srcId="{CBE2D103-B9BC-D143-9458-C9A7327A1C46}" destId="{C062710B-5E46-E541-AD2C-3A107F437CF0}" srcOrd="2" destOrd="0" presId="urn:microsoft.com/office/officeart/2005/8/layout/StepDownProcess"/>
    <dgm:cxn modelId="{0A6D8FE3-AE82-4440-B747-79E14DF37E7A}" type="presParOf" srcId="{C062710B-5E46-E541-AD2C-3A107F437CF0}" destId="{F104C937-B7C8-934D-9AA2-C7FD81492735}" srcOrd="0" destOrd="0" presId="urn:microsoft.com/office/officeart/2005/8/layout/StepDownProcess"/>
    <dgm:cxn modelId="{E296769E-C2AE-E74A-91E2-31DFF6829863}" type="presParOf" srcId="{C062710B-5E46-E541-AD2C-3A107F437CF0}" destId="{07AD5C5D-4800-9540-BEB3-4F847D93EA85}" srcOrd="1" destOrd="0" presId="urn:microsoft.com/office/officeart/2005/8/layout/StepDownProcess"/>
    <dgm:cxn modelId="{F745157B-3FDA-8549-8A6E-C4A6B9C4C4BF}" type="presParOf" srcId="{C062710B-5E46-E541-AD2C-3A107F437CF0}" destId="{6584D534-1292-C143-961D-B1D3E4C1E213}" srcOrd="2" destOrd="0" presId="urn:microsoft.com/office/officeart/2005/8/layout/StepDownProcess"/>
    <dgm:cxn modelId="{F5F396F6-48E9-C84C-9DA6-080049E1D9C9}" type="presParOf" srcId="{CBE2D103-B9BC-D143-9458-C9A7327A1C46}" destId="{FAE50C98-F869-714A-B335-180B7E860713}" srcOrd="3" destOrd="0" presId="urn:microsoft.com/office/officeart/2005/8/layout/StepDownProcess"/>
    <dgm:cxn modelId="{5F754140-E1AE-9A4B-AF38-C963ABFBD04D}" type="presParOf" srcId="{CBE2D103-B9BC-D143-9458-C9A7327A1C46}" destId="{3DFB8CC0-79BC-4E49-A3EC-EBA5880B2902}" srcOrd="4" destOrd="0" presId="urn:microsoft.com/office/officeart/2005/8/layout/StepDownProcess"/>
    <dgm:cxn modelId="{43D5481E-BFA5-2C45-B6F4-6FC672BB75DC}" type="presParOf" srcId="{3DFB8CC0-79BC-4E49-A3EC-EBA5880B2902}" destId="{190766AB-CF8B-2349-9DF7-123BDBCE6D4A}" srcOrd="0" destOrd="0" presId="urn:microsoft.com/office/officeart/2005/8/layout/StepDownProcess"/>
    <dgm:cxn modelId="{4DB518FE-6B37-074E-97F8-23490436D75F}" type="presParOf" srcId="{3DFB8CC0-79BC-4E49-A3EC-EBA5880B2902}" destId="{56059CAE-D0B0-D348-BC14-942F93A87761}" srcOrd="1" destOrd="0" presId="urn:microsoft.com/office/officeart/2005/8/layout/StepDownProcess"/>
    <dgm:cxn modelId="{72475BBA-B3FB-5B49-9A73-32910513F404}" type="presParOf" srcId="{3DFB8CC0-79BC-4E49-A3EC-EBA5880B2902}" destId="{FC0922B5-95D3-2441-AC95-2C96DAFF41A2}" srcOrd="2" destOrd="0" presId="urn:microsoft.com/office/officeart/2005/8/layout/StepDownProcess"/>
    <dgm:cxn modelId="{92AE096E-C017-0C4D-B17F-214EBE07A00E}" type="presParOf" srcId="{CBE2D103-B9BC-D143-9458-C9A7327A1C46}" destId="{2A237091-B091-DF47-B98D-0187A56DFE40}" srcOrd="5" destOrd="0" presId="urn:microsoft.com/office/officeart/2005/8/layout/StepDownProcess"/>
    <dgm:cxn modelId="{88D9204E-C7BE-3245-AA91-39267BC72E47}" type="presParOf" srcId="{CBE2D103-B9BC-D143-9458-C9A7327A1C46}" destId="{A6703E19-3F67-4A46-A826-3312143EAFE8}" srcOrd="6" destOrd="0" presId="urn:microsoft.com/office/officeart/2005/8/layout/StepDownProcess"/>
    <dgm:cxn modelId="{ED5A80C3-D865-F344-A03C-71A9F53A92E5}" type="presParOf" srcId="{A6703E19-3F67-4A46-A826-3312143EAFE8}" destId="{CC6B1BC1-1742-6544-BCC9-7E0820C99399}"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513D5D-7DE8-634B-AE98-4CDBF5D90263}">
      <dsp:nvSpPr>
        <dsp:cNvPr id="0" name=""/>
        <dsp:cNvSpPr/>
      </dsp:nvSpPr>
      <dsp:spPr>
        <a:xfrm rot="5400000">
          <a:off x="974464" y="1079761"/>
          <a:ext cx="948265" cy="1079567"/>
        </a:xfrm>
        <a:prstGeom prst="bentUpArrow">
          <a:avLst>
            <a:gd name="adj1" fmla="val 32840"/>
            <a:gd name="adj2" fmla="val 25000"/>
            <a:gd name="adj3" fmla="val 35780"/>
          </a:avLst>
        </a:prstGeom>
        <a:noFill/>
        <a:ln w="15875"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7B1EBF-886A-F94F-95D8-FD98CDB56A9B}">
      <dsp:nvSpPr>
        <dsp:cNvPr id="0" name=""/>
        <dsp:cNvSpPr/>
      </dsp:nvSpPr>
      <dsp:spPr>
        <a:xfrm>
          <a:off x="1639" y="28590"/>
          <a:ext cx="4231241" cy="1117373"/>
        </a:xfrm>
        <a:prstGeom prst="roundRect">
          <a:avLst>
            <a:gd name="adj" fmla="val 1667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Phase 1: Data Preprocessing &amp; EDA</a:t>
          </a:r>
        </a:p>
      </dsp:txBody>
      <dsp:txXfrm>
        <a:off x="56194" y="83145"/>
        <a:ext cx="4122131" cy="1008263"/>
      </dsp:txXfrm>
    </dsp:sp>
    <dsp:sp modelId="{181D13F4-C5DB-5247-B466-E8AC3CDD080C}">
      <dsp:nvSpPr>
        <dsp:cNvPr id="0" name=""/>
        <dsp:cNvSpPr/>
      </dsp:nvSpPr>
      <dsp:spPr>
        <a:xfrm>
          <a:off x="2915420" y="135157"/>
          <a:ext cx="1161011" cy="903110"/>
        </a:xfrm>
        <a:prstGeom prst="rect">
          <a:avLst/>
        </a:prstGeom>
        <a:noFill/>
        <a:ln>
          <a:noFill/>
        </a:ln>
        <a:effectLst/>
      </dsp:spPr>
      <dsp:style>
        <a:lnRef idx="0">
          <a:scrgbClr r="0" g="0" b="0"/>
        </a:lnRef>
        <a:fillRef idx="0">
          <a:scrgbClr r="0" g="0" b="0"/>
        </a:fillRef>
        <a:effectRef idx="0">
          <a:scrgbClr r="0" g="0" b="0"/>
        </a:effectRef>
        <a:fontRef idx="minor"/>
      </dsp:style>
    </dsp:sp>
    <dsp:sp modelId="{F104C937-B7C8-934D-9AA2-C7FD81492735}">
      <dsp:nvSpPr>
        <dsp:cNvPr id="0" name=""/>
        <dsp:cNvSpPr/>
      </dsp:nvSpPr>
      <dsp:spPr>
        <a:xfrm rot="5400000">
          <a:off x="5171678" y="1264424"/>
          <a:ext cx="948265" cy="1079567"/>
        </a:xfrm>
        <a:prstGeom prst="bentUpArrow">
          <a:avLst>
            <a:gd name="adj1" fmla="val 32840"/>
            <a:gd name="adj2" fmla="val 25000"/>
            <a:gd name="adj3" fmla="val 35780"/>
          </a:avLst>
        </a:prstGeom>
        <a:noFill/>
        <a:ln w="15875" cap="flat" cmpd="sng" algn="ctr">
          <a:noFill/>
          <a:prstDash val="solid"/>
        </a:ln>
        <a:effectLst/>
      </dsp:spPr>
      <dsp:style>
        <a:lnRef idx="2">
          <a:scrgbClr r="0" g="0" b="0"/>
        </a:lnRef>
        <a:fillRef idx="1">
          <a:scrgbClr r="0" g="0" b="0"/>
        </a:fillRef>
        <a:effectRef idx="0">
          <a:scrgbClr r="0" g="0" b="0"/>
        </a:effectRef>
        <a:fontRef idx="minor"/>
      </dsp:style>
    </dsp:sp>
    <dsp:sp modelId="{07AD5C5D-4800-9540-BEB3-4F847D93EA85}">
      <dsp:nvSpPr>
        <dsp:cNvPr id="0" name=""/>
        <dsp:cNvSpPr/>
      </dsp:nvSpPr>
      <dsp:spPr>
        <a:xfrm>
          <a:off x="2032634" y="1283769"/>
          <a:ext cx="4266934" cy="1117373"/>
        </a:xfrm>
        <a:prstGeom prst="roundRect">
          <a:avLst>
            <a:gd name="adj" fmla="val 1667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Phase 2: Feature Engineering</a:t>
          </a:r>
        </a:p>
      </dsp:txBody>
      <dsp:txXfrm>
        <a:off x="2087189" y="1338324"/>
        <a:ext cx="4157824" cy="1008263"/>
      </dsp:txXfrm>
    </dsp:sp>
    <dsp:sp modelId="{6584D534-1292-C143-961D-B1D3E4C1E213}">
      <dsp:nvSpPr>
        <dsp:cNvPr id="0" name=""/>
        <dsp:cNvSpPr/>
      </dsp:nvSpPr>
      <dsp:spPr>
        <a:xfrm>
          <a:off x="4964262" y="1390336"/>
          <a:ext cx="1161011" cy="903110"/>
        </a:xfrm>
        <a:prstGeom prst="rect">
          <a:avLst/>
        </a:prstGeom>
        <a:noFill/>
        <a:ln>
          <a:noFill/>
        </a:ln>
        <a:effectLst/>
      </dsp:spPr>
      <dsp:style>
        <a:lnRef idx="0">
          <a:scrgbClr r="0" g="0" b="0"/>
        </a:lnRef>
        <a:fillRef idx="0">
          <a:scrgbClr r="0" g="0" b="0"/>
        </a:fillRef>
        <a:effectRef idx="0">
          <a:scrgbClr r="0" g="0" b="0"/>
        </a:effectRef>
        <a:fontRef idx="minor"/>
      </dsp:style>
    </dsp:sp>
    <dsp:sp modelId="{190766AB-CF8B-2349-9DF7-123BDBCE6D4A}">
      <dsp:nvSpPr>
        <dsp:cNvPr id="0" name=""/>
        <dsp:cNvSpPr/>
      </dsp:nvSpPr>
      <dsp:spPr>
        <a:xfrm rot="10800000" flipH="1">
          <a:off x="8254701" y="2744380"/>
          <a:ext cx="948265" cy="1079567"/>
        </a:xfrm>
        <a:prstGeom prst="bentUpArrow">
          <a:avLst>
            <a:gd name="adj1" fmla="val 32840"/>
            <a:gd name="adj2" fmla="val 25000"/>
            <a:gd name="adj3" fmla="val 35780"/>
          </a:avLst>
        </a:prstGeom>
        <a:noFill/>
        <a:ln w="15875"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059CAE-D0B0-D348-BC14-942F93A87761}">
      <dsp:nvSpPr>
        <dsp:cNvPr id="0" name=""/>
        <dsp:cNvSpPr/>
      </dsp:nvSpPr>
      <dsp:spPr>
        <a:xfrm>
          <a:off x="4063630" y="2538947"/>
          <a:ext cx="4266934" cy="1117373"/>
        </a:xfrm>
        <a:prstGeom prst="roundRect">
          <a:avLst>
            <a:gd name="adj" fmla="val 1667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Phase 3: Model Training &amp; Hyperparameter Tuning</a:t>
          </a:r>
        </a:p>
      </dsp:txBody>
      <dsp:txXfrm>
        <a:off x="4118185" y="2593502"/>
        <a:ext cx="4157824" cy="1008263"/>
      </dsp:txXfrm>
    </dsp:sp>
    <dsp:sp modelId="{FC0922B5-95D3-2441-AC95-2C96DAFF41A2}">
      <dsp:nvSpPr>
        <dsp:cNvPr id="0" name=""/>
        <dsp:cNvSpPr/>
      </dsp:nvSpPr>
      <dsp:spPr>
        <a:xfrm>
          <a:off x="6995258" y="2645514"/>
          <a:ext cx="1161011" cy="903110"/>
        </a:xfrm>
        <a:prstGeom prst="rect">
          <a:avLst/>
        </a:prstGeom>
        <a:noFill/>
        <a:ln>
          <a:noFill/>
        </a:ln>
        <a:effectLst/>
      </dsp:spPr>
      <dsp:style>
        <a:lnRef idx="0">
          <a:scrgbClr r="0" g="0" b="0"/>
        </a:lnRef>
        <a:fillRef idx="0">
          <a:scrgbClr r="0" g="0" b="0"/>
        </a:fillRef>
        <a:effectRef idx="0">
          <a:scrgbClr r="0" g="0" b="0"/>
        </a:effectRef>
        <a:fontRef idx="minor"/>
      </dsp:style>
    </dsp:sp>
    <dsp:sp modelId="{CC6B1BC1-1742-6544-BCC9-7E0820C99399}">
      <dsp:nvSpPr>
        <dsp:cNvPr id="0" name=""/>
        <dsp:cNvSpPr/>
      </dsp:nvSpPr>
      <dsp:spPr>
        <a:xfrm>
          <a:off x="6094626" y="3794126"/>
          <a:ext cx="4266934" cy="1117373"/>
        </a:xfrm>
        <a:prstGeom prst="roundRect">
          <a:avLst>
            <a:gd name="adj" fmla="val 16670"/>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Arial" panose="020B0604020202020204" pitchFamily="34" charset="0"/>
              <a:cs typeface="Arial" panose="020B0604020202020204" pitchFamily="34" charset="0"/>
            </a:rPr>
            <a:t>Phase 4: Evaluation &amp; Qualitative Analysis</a:t>
          </a:r>
          <a:endParaRPr lang="en-US" sz="2400" kern="1200" dirty="0">
            <a:latin typeface="Arial" panose="020B0604020202020204" pitchFamily="34" charset="0"/>
            <a:cs typeface="Arial" panose="020B0604020202020204" pitchFamily="34" charset="0"/>
          </a:endParaRPr>
        </a:p>
      </dsp:txBody>
      <dsp:txXfrm>
        <a:off x="6149181" y="3848681"/>
        <a:ext cx="4157824" cy="1008263"/>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74EA60-EE1E-604B-97A0-9966A6107879}" type="datetimeFigureOut">
              <a:rPr lang="en-US" smtClean="0"/>
              <a:t>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8125BC-70EB-5E47-AAB3-1BA3C0A3FB9D}" type="slidenum">
              <a:rPr lang="en-US" smtClean="0"/>
              <a:t>‹#›</a:t>
            </a:fld>
            <a:endParaRPr lang="en-US"/>
          </a:p>
        </p:txBody>
      </p:sp>
    </p:spTree>
    <p:extLst>
      <p:ext uri="{BB962C8B-B14F-4D97-AF65-F5344CB8AC3E}">
        <p14:creationId xmlns:p14="http://schemas.microsoft.com/office/powerpoint/2010/main" val="1738226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1</a:t>
            </a:fld>
            <a:endParaRPr lang="en-US"/>
          </a:p>
        </p:txBody>
      </p:sp>
    </p:spTree>
    <p:extLst>
      <p:ext uri="{BB962C8B-B14F-4D97-AF65-F5344CB8AC3E}">
        <p14:creationId xmlns:p14="http://schemas.microsoft.com/office/powerpoint/2010/main" val="1316900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2</a:t>
            </a:fld>
            <a:endParaRPr lang="en-US"/>
          </a:p>
        </p:txBody>
      </p:sp>
    </p:spTree>
    <p:extLst>
      <p:ext uri="{BB962C8B-B14F-4D97-AF65-F5344CB8AC3E}">
        <p14:creationId xmlns:p14="http://schemas.microsoft.com/office/powerpoint/2010/main" val="4267640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leads to my core research question:</a:t>
            </a:r>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3</a:t>
            </a:fld>
            <a:endParaRPr lang="en-US"/>
          </a:p>
        </p:txBody>
      </p:sp>
    </p:spTree>
    <p:extLst>
      <p:ext uri="{BB962C8B-B14F-4D97-AF65-F5344CB8AC3E}">
        <p14:creationId xmlns:p14="http://schemas.microsoft.com/office/powerpoint/2010/main" val="211568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4</a:t>
            </a:fld>
            <a:endParaRPr lang="en-US"/>
          </a:p>
        </p:txBody>
      </p:sp>
    </p:spTree>
    <p:extLst>
      <p:ext uri="{BB962C8B-B14F-4D97-AF65-F5344CB8AC3E}">
        <p14:creationId xmlns:p14="http://schemas.microsoft.com/office/powerpoint/2010/main" val="1937474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5</a:t>
            </a:fld>
            <a:endParaRPr lang="en-US"/>
          </a:p>
        </p:txBody>
      </p:sp>
    </p:spTree>
    <p:extLst>
      <p:ext uri="{BB962C8B-B14F-4D97-AF65-F5344CB8AC3E}">
        <p14:creationId xmlns:p14="http://schemas.microsoft.com/office/powerpoint/2010/main" val="2855780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6</a:t>
            </a:fld>
            <a:endParaRPr lang="en-US"/>
          </a:p>
        </p:txBody>
      </p:sp>
    </p:spTree>
    <p:extLst>
      <p:ext uri="{BB962C8B-B14F-4D97-AF65-F5344CB8AC3E}">
        <p14:creationId xmlns:p14="http://schemas.microsoft.com/office/powerpoint/2010/main" val="17333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7</a:t>
            </a:fld>
            <a:endParaRPr lang="en-US"/>
          </a:p>
        </p:txBody>
      </p:sp>
    </p:spTree>
    <p:extLst>
      <p:ext uri="{BB962C8B-B14F-4D97-AF65-F5344CB8AC3E}">
        <p14:creationId xmlns:p14="http://schemas.microsoft.com/office/powerpoint/2010/main" val="1387794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09366-8027-842D-1E2F-EDF58464A7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3CC6A-5711-52F4-004A-AE193F9F4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2907E-BD9B-D409-D3E4-F84CFD4A6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FE03D3-E29F-DED3-D9CE-01C749C4AA8F}"/>
              </a:ext>
            </a:extLst>
          </p:cNvPr>
          <p:cNvSpPr>
            <a:spLocks noGrp="1"/>
          </p:cNvSpPr>
          <p:nvPr>
            <p:ph type="sldNum" sz="quarter" idx="5"/>
          </p:nvPr>
        </p:nvSpPr>
        <p:spPr/>
        <p:txBody>
          <a:bodyPr/>
          <a:lstStyle/>
          <a:p>
            <a:fld id="{D48125BC-70EB-5E47-AAB3-1BA3C0A3FB9D}" type="slidenum">
              <a:rPr lang="en-US" smtClean="0"/>
              <a:t>8</a:t>
            </a:fld>
            <a:endParaRPr lang="en-US"/>
          </a:p>
        </p:txBody>
      </p:sp>
    </p:spTree>
    <p:extLst>
      <p:ext uri="{BB962C8B-B14F-4D97-AF65-F5344CB8AC3E}">
        <p14:creationId xmlns:p14="http://schemas.microsoft.com/office/powerpoint/2010/main" val="154102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9</a:t>
            </a:fld>
            <a:endParaRPr lang="en-US"/>
          </a:p>
        </p:txBody>
      </p:sp>
    </p:spTree>
    <p:extLst>
      <p:ext uri="{BB962C8B-B14F-4D97-AF65-F5344CB8AC3E}">
        <p14:creationId xmlns:p14="http://schemas.microsoft.com/office/powerpoint/2010/main" val="2355452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8854D-C5E0-CE62-DC13-98F4924F8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3BA4A-F7C9-6218-0F66-47E92F8DF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C6C82-8CAB-DCC8-57A6-C58D3F27DFB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8E4CD6E-6BA1-41C3-877D-9C089C936D9F}"/>
              </a:ext>
            </a:extLst>
          </p:cNvPr>
          <p:cNvSpPr>
            <a:spLocks noGrp="1"/>
          </p:cNvSpPr>
          <p:nvPr>
            <p:ph type="sldNum" sz="quarter" idx="5"/>
          </p:nvPr>
        </p:nvSpPr>
        <p:spPr/>
        <p:txBody>
          <a:bodyPr/>
          <a:lstStyle/>
          <a:p>
            <a:fld id="{D48125BC-70EB-5E47-AAB3-1BA3C0A3FB9D}" type="slidenum">
              <a:rPr lang="en-US" smtClean="0"/>
              <a:t>10</a:t>
            </a:fld>
            <a:endParaRPr lang="en-US"/>
          </a:p>
        </p:txBody>
      </p:sp>
    </p:spTree>
    <p:extLst>
      <p:ext uri="{BB962C8B-B14F-4D97-AF65-F5344CB8AC3E}">
        <p14:creationId xmlns:p14="http://schemas.microsoft.com/office/powerpoint/2010/main" val="4253809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11</a:t>
            </a:fld>
            <a:endParaRPr lang="en-US"/>
          </a:p>
        </p:txBody>
      </p:sp>
    </p:spTree>
    <p:extLst>
      <p:ext uri="{BB962C8B-B14F-4D97-AF65-F5344CB8AC3E}">
        <p14:creationId xmlns:p14="http://schemas.microsoft.com/office/powerpoint/2010/main" val="2993535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also conducted an Error Analysis. I found that both models failed collectively when encountering "Interactive Hooks" like direct questions or roleplay setups. They predicted these as 'Ignored' when they were actually 'Controversial'. In terms of where they diverged, Regression was often misled by aggressive vocabulary, misclassifying pragmatic tech-sharing as 'Controversial'. Meanwhile, Random Forest correctly recognized that an assertive hook combined with a solution usually leads to a 'Popular' post.</a:t>
            </a:r>
          </a:p>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12</a:t>
            </a:fld>
            <a:endParaRPr lang="en-US"/>
          </a:p>
        </p:txBody>
      </p:sp>
    </p:spTree>
    <p:extLst>
      <p:ext uri="{BB962C8B-B14F-4D97-AF65-F5344CB8AC3E}">
        <p14:creationId xmlns:p14="http://schemas.microsoft.com/office/powerpoint/2010/main" val="350195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13</a:t>
            </a:fld>
            <a:endParaRPr lang="en-US"/>
          </a:p>
        </p:txBody>
      </p:sp>
    </p:spTree>
    <p:extLst>
      <p:ext uri="{BB962C8B-B14F-4D97-AF65-F5344CB8AC3E}">
        <p14:creationId xmlns:p14="http://schemas.microsoft.com/office/powerpoint/2010/main" val="2557825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125BC-70EB-5E47-AAB3-1BA3C0A3FB9D}" type="slidenum">
              <a:rPr lang="en-US" smtClean="0"/>
              <a:t>14</a:t>
            </a:fld>
            <a:endParaRPr lang="en-US"/>
          </a:p>
        </p:txBody>
      </p:sp>
    </p:spTree>
    <p:extLst>
      <p:ext uri="{BB962C8B-B14F-4D97-AF65-F5344CB8AC3E}">
        <p14:creationId xmlns:p14="http://schemas.microsoft.com/office/powerpoint/2010/main" val="14501122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dirty="0"/>
              <a:t>Click to edit Master title style</a:t>
            </a:r>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3/20/26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none" baseline="0">
          <a:solidFill>
            <a:schemeClr val="tx1"/>
          </a:solidFill>
          <a:effectLst/>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none" baseline="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none" baseline="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61F7E4-AE39-941B-8774-2D8414886077}"/>
              </a:ext>
            </a:extLst>
          </p:cNvPr>
          <p:cNvPicPr>
            <a:picLocks noChangeAspect="1"/>
          </p:cNvPicPr>
          <p:nvPr/>
        </p:nvPicPr>
        <p:blipFill>
          <a:blip r:embed="rId3">
            <a:clrChange>
              <a:clrFrom>
                <a:srgbClr val="001320"/>
              </a:clrFrom>
              <a:clrTo>
                <a:srgbClr val="001320">
                  <a:alpha val="0"/>
                </a:srgbClr>
              </a:clrTo>
            </a:clrChange>
          </a:blip>
          <a:stretch>
            <a:fillRect/>
          </a:stretch>
        </p:blipFill>
        <p:spPr>
          <a:xfrm>
            <a:off x="202253" y="4185616"/>
            <a:ext cx="2949108" cy="2500742"/>
          </a:xfrm>
          <a:prstGeom prst="rect">
            <a:avLst/>
          </a:prstGeom>
        </p:spPr>
      </p:pic>
      <p:sp>
        <p:nvSpPr>
          <p:cNvPr id="2" name="Title 1">
            <a:extLst>
              <a:ext uri="{FF2B5EF4-FFF2-40B4-BE49-F238E27FC236}">
                <a16:creationId xmlns:a16="http://schemas.microsoft.com/office/drawing/2014/main" id="{6B748AC8-B09D-5E4F-6DA7-FA99785B8628}"/>
              </a:ext>
            </a:extLst>
          </p:cNvPr>
          <p:cNvSpPr>
            <a:spLocks noGrp="1"/>
          </p:cNvSpPr>
          <p:nvPr>
            <p:ph type="ctrTitle"/>
          </p:nvPr>
        </p:nvSpPr>
        <p:spPr>
          <a:xfrm>
            <a:off x="508000" y="1778000"/>
            <a:ext cx="11176000" cy="1778000"/>
          </a:xfrm>
        </p:spPr>
        <p:txBody>
          <a:bodyPr>
            <a:normAutofit/>
          </a:bodyPr>
          <a:lstStyle/>
          <a:p>
            <a:r>
              <a:rPr lang="en-US" sz="3600" dirty="0"/>
              <a:t>Decoding Social Dynamics in AI Agent Communities: </a:t>
            </a:r>
            <a:r>
              <a:rPr lang="en-US" sz="3200" dirty="0"/>
              <a:t>Use Machine Learning </a:t>
            </a:r>
            <a:r>
              <a:rPr lang="en-US" sz="3200"/>
              <a:t>to Predict Engagement</a:t>
            </a:r>
            <a:r>
              <a:rPr lang="zh-CN" altLang="en-US" sz="3200" dirty="0"/>
              <a:t> </a:t>
            </a:r>
            <a:r>
              <a:rPr lang="en-US" altLang="zh-CN" sz="3200" dirty="0"/>
              <a:t>in </a:t>
            </a:r>
            <a:r>
              <a:rPr lang="en-US" altLang="zh-CN" sz="3200" dirty="0" err="1"/>
              <a:t>Moltbook</a:t>
            </a:r>
            <a:endParaRPr lang="en-US" sz="3200" dirty="0"/>
          </a:p>
        </p:txBody>
      </p:sp>
      <p:sp>
        <p:nvSpPr>
          <p:cNvPr id="3" name="Subtitle 2">
            <a:extLst>
              <a:ext uri="{FF2B5EF4-FFF2-40B4-BE49-F238E27FC236}">
                <a16:creationId xmlns:a16="http://schemas.microsoft.com/office/drawing/2014/main" id="{C2DE0DF2-32B4-1167-B093-57EE5C7263DA}"/>
              </a:ext>
            </a:extLst>
          </p:cNvPr>
          <p:cNvSpPr>
            <a:spLocks noGrp="1"/>
          </p:cNvSpPr>
          <p:nvPr>
            <p:ph type="subTitle" idx="1"/>
          </p:nvPr>
        </p:nvSpPr>
        <p:spPr>
          <a:xfrm>
            <a:off x="1419791" y="4262370"/>
            <a:ext cx="9352417" cy="1371599"/>
          </a:xfrm>
        </p:spPr>
        <p:txBody>
          <a:bodyPr>
            <a:normAutofit/>
          </a:bodyPr>
          <a:lstStyle/>
          <a:p>
            <a:r>
              <a:rPr lang="en-US" sz="2000" dirty="0"/>
              <a:t>By Jingwen Lu</a:t>
            </a:r>
          </a:p>
        </p:txBody>
      </p:sp>
      <p:pic>
        <p:nvPicPr>
          <p:cNvPr id="4" name="Picture 3" descr="A logo with a red circle and a black background&#10;&#10;AI-generated content may be incorrect.">
            <a:extLst>
              <a:ext uri="{FF2B5EF4-FFF2-40B4-BE49-F238E27FC236}">
                <a16:creationId xmlns:a16="http://schemas.microsoft.com/office/drawing/2014/main" id="{B2F6F10B-3025-7681-3491-FE735684D712}"/>
              </a:ext>
            </a:extLst>
          </p:cNvPr>
          <p:cNvPicPr>
            <a:picLocks noChangeAspect="1"/>
          </p:cNvPicPr>
          <p:nvPr/>
        </p:nvPicPr>
        <p:blipFill>
          <a:blip r:embed="rId4"/>
          <a:stretch>
            <a:fillRect/>
          </a:stretch>
        </p:blipFill>
        <p:spPr>
          <a:xfrm>
            <a:off x="10414000" y="0"/>
            <a:ext cx="1778000" cy="1778000"/>
          </a:xfrm>
          <a:prstGeom prst="rect">
            <a:avLst/>
          </a:prstGeom>
        </p:spPr>
      </p:pic>
    </p:spTree>
    <p:extLst>
      <p:ext uri="{BB962C8B-B14F-4D97-AF65-F5344CB8AC3E}">
        <p14:creationId xmlns:p14="http://schemas.microsoft.com/office/powerpoint/2010/main" val="358098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BE0A0-6FC3-09EC-C1CD-3EB20F4D7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8A42C-12A2-AD30-8431-91C594BE436C}"/>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591663F1-6EEC-3562-7605-20ACD4BC31C5}"/>
              </a:ext>
            </a:extLst>
          </p:cNvPr>
          <p:cNvSpPr>
            <a:spLocks noGrp="1"/>
          </p:cNvSpPr>
          <p:nvPr>
            <p:ph sz="quarter" idx="13"/>
          </p:nvPr>
        </p:nvSpPr>
        <p:spPr>
          <a:xfrm>
            <a:off x="1384300" y="2214694"/>
            <a:ext cx="9283700" cy="3576505"/>
          </a:xfrm>
        </p:spPr>
        <p:txBody>
          <a:bodyPr>
            <a:normAutofit/>
          </a:bodyPr>
          <a:lstStyle/>
          <a:p>
            <a:r>
              <a:rPr lang="en-US" sz="2400" dirty="0"/>
              <a:t>AI</a:t>
            </a:r>
            <a:r>
              <a:rPr lang="zh-CN" altLang="en-US" sz="2400" dirty="0"/>
              <a:t> </a:t>
            </a:r>
            <a:r>
              <a:rPr lang="en-US" altLang="zh-CN" sz="2400" dirty="0"/>
              <a:t>agents are forming complex social networks (e.g., </a:t>
            </a:r>
            <a:r>
              <a:rPr lang="en-US" altLang="zh-CN" sz="2400" dirty="0" err="1"/>
              <a:t>Moltbook</a:t>
            </a:r>
            <a:r>
              <a:rPr lang="en-US" altLang="zh-CN" sz="2400" dirty="0"/>
              <a:t>)</a:t>
            </a:r>
          </a:p>
          <a:p>
            <a:r>
              <a:rPr lang="en-US" altLang="zh-CN" sz="2400" dirty="0"/>
              <a:t>Understanding what drives engagement is crucial for community design and alignment.</a:t>
            </a:r>
          </a:p>
          <a:p>
            <a:r>
              <a:rPr lang="en-US" altLang="zh-CN" sz="2400" dirty="0"/>
              <a:t>Need to move beyond simple frequency metrics to capture deep semantic drivers by using Machine learning</a:t>
            </a:r>
          </a:p>
        </p:txBody>
      </p:sp>
    </p:spTree>
    <p:extLst>
      <p:ext uri="{BB962C8B-B14F-4D97-AF65-F5344CB8AC3E}">
        <p14:creationId xmlns:p14="http://schemas.microsoft.com/office/powerpoint/2010/main" val="1526923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11E71-0D8A-D673-9FA0-2A2C89DB3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84A64-BC17-1AD7-B231-1FD54059BC86}"/>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8B43DAAA-C77A-F7D9-72D9-50EA51CF640F}"/>
              </a:ext>
            </a:extLst>
          </p:cNvPr>
          <p:cNvSpPr>
            <a:spLocks noGrp="1"/>
          </p:cNvSpPr>
          <p:nvPr>
            <p:ph sz="quarter" idx="13"/>
          </p:nvPr>
        </p:nvSpPr>
        <p:spPr/>
        <p:txBody>
          <a:bodyPr>
            <a:normAutofit/>
          </a:bodyPr>
          <a:lstStyle/>
          <a:p>
            <a:r>
              <a:rPr lang="en-US" sz="2400" dirty="0"/>
              <a:t>How do latent topics and microscopic textual features drive different types of social engagement in </a:t>
            </a:r>
            <a:r>
              <a:rPr lang="en-US" sz="2400" dirty="0" err="1"/>
              <a:t>Moltbook</a:t>
            </a:r>
            <a:r>
              <a:rPr lang="en-US" sz="2400" dirty="0"/>
              <a:t> (a simulated AI community)?</a:t>
            </a:r>
          </a:p>
          <a:p>
            <a:pPr lvl="1"/>
            <a:r>
              <a:rPr lang="en-US" sz="2400" dirty="0"/>
              <a:t>Specifically, what distinguishes the linguistic drivers of ‘Popular’ posts (high consensus/endorsement) from 'Controversial' posts (high discussion but divided scores)?</a:t>
            </a:r>
            <a:endParaRPr lang="en-US" altLang="zh-CN" sz="2200" dirty="0"/>
          </a:p>
        </p:txBody>
      </p:sp>
    </p:spTree>
    <p:extLst>
      <p:ext uri="{BB962C8B-B14F-4D97-AF65-F5344CB8AC3E}">
        <p14:creationId xmlns:p14="http://schemas.microsoft.com/office/powerpoint/2010/main" val="1259226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53084-6077-0A2C-02D8-17043045D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38368-CE52-43D9-0981-4C54D577BA07}"/>
              </a:ext>
            </a:extLst>
          </p:cNvPr>
          <p:cNvSpPr>
            <a:spLocks noGrp="1"/>
          </p:cNvSpPr>
          <p:nvPr>
            <p:ph type="title"/>
          </p:nvPr>
        </p:nvSpPr>
        <p:spPr>
          <a:xfrm>
            <a:off x="913773" y="334222"/>
            <a:ext cx="10364451" cy="1596177"/>
          </a:xfrm>
        </p:spPr>
        <p:txBody>
          <a:bodyPr/>
          <a:lstStyle/>
          <a:p>
            <a:r>
              <a:rPr lang="en-US" dirty="0"/>
              <a:t>Machine Learning Task Formation</a:t>
            </a:r>
          </a:p>
        </p:txBody>
      </p:sp>
      <p:sp>
        <p:nvSpPr>
          <p:cNvPr id="3" name="Content Placeholder 2">
            <a:extLst>
              <a:ext uri="{FF2B5EF4-FFF2-40B4-BE49-F238E27FC236}">
                <a16:creationId xmlns:a16="http://schemas.microsoft.com/office/drawing/2014/main" id="{665F0D00-C5AB-C480-4D61-C6951279D5D6}"/>
              </a:ext>
            </a:extLst>
          </p:cNvPr>
          <p:cNvSpPr>
            <a:spLocks noGrp="1"/>
          </p:cNvSpPr>
          <p:nvPr>
            <p:ph sz="quarter" idx="13"/>
          </p:nvPr>
        </p:nvSpPr>
        <p:spPr>
          <a:xfrm>
            <a:off x="1524000" y="1600201"/>
            <a:ext cx="9004300" cy="4639282"/>
          </a:xfrm>
        </p:spPr>
        <p:txBody>
          <a:bodyPr>
            <a:normAutofit fontScale="92500" lnSpcReduction="10000"/>
          </a:bodyPr>
          <a:lstStyle/>
          <a:p>
            <a:r>
              <a:rPr lang="en-US" sz="2400" dirty="0"/>
              <a:t>Task: Multi-class Classification</a:t>
            </a:r>
          </a:p>
          <a:p>
            <a:r>
              <a:rPr lang="en-US" altLang="zh-CN" sz="2400" dirty="0"/>
              <a:t>Target: Controversy Category (4 classes)</a:t>
            </a:r>
            <a:r>
              <a:rPr lang="zh-CN" altLang="en-US" sz="2400" dirty="0"/>
              <a:t> </a:t>
            </a:r>
            <a:r>
              <a:rPr lang="en-US" altLang="zh-CN" sz="2400" dirty="0"/>
              <a:t>[1]</a:t>
            </a:r>
          </a:p>
          <a:p>
            <a:endParaRPr lang="en-US" altLang="zh-CN" sz="2400" dirty="0"/>
          </a:p>
          <a:p>
            <a:endParaRPr lang="en-US" altLang="zh-CN" sz="2400" dirty="0"/>
          </a:p>
          <a:p>
            <a:pPr lvl="1"/>
            <a:endParaRPr lang="en-US" altLang="zh-CN" sz="2200" dirty="0"/>
          </a:p>
          <a:p>
            <a:pPr lvl="1"/>
            <a:r>
              <a:rPr lang="en-US" altLang="zh-CN" sz="2200" dirty="0"/>
              <a:t>Notes: Score = upvotes – downvotes; Threshold = median</a:t>
            </a:r>
          </a:p>
          <a:p>
            <a:r>
              <a:rPr lang="en-US" altLang="zh-CN" sz="2400" dirty="0"/>
              <a:t>Features:</a:t>
            </a:r>
          </a:p>
          <a:p>
            <a:pPr lvl="1"/>
            <a:r>
              <a:rPr lang="en-US" altLang="zh-CN" sz="2200" dirty="0"/>
              <a:t>Observable </a:t>
            </a:r>
            <a:r>
              <a:rPr lang="en-US" altLang="zh-CN" sz="2200" dirty="0" err="1"/>
              <a:t>Texual</a:t>
            </a:r>
            <a:r>
              <a:rPr lang="en-US" altLang="zh-CN" sz="2200" dirty="0"/>
              <a:t> Features</a:t>
            </a:r>
          </a:p>
          <a:p>
            <a:pPr lvl="2"/>
            <a:r>
              <a:rPr lang="en-US" altLang="zh-CN" sz="2000" dirty="0"/>
              <a:t>Title Length (log), Content Length (log), TF-IDF (500 words)</a:t>
            </a:r>
          </a:p>
          <a:p>
            <a:pPr lvl="2"/>
            <a:r>
              <a:rPr lang="en-US" altLang="zh-CN" sz="2000" dirty="0"/>
              <a:t>Latent Themes (Dominant Topic)</a:t>
            </a:r>
          </a:p>
          <a:p>
            <a:pPr lvl="2"/>
            <a:endParaRPr lang="en-US" altLang="zh-CN" sz="2000" dirty="0"/>
          </a:p>
          <a:p>
            <a:pPr lvl="1"/>
            <a:endParaRPr lang="en-US" altLang="zh-CN" sz="2200" dirty="0"/>
          </a:p>
        </p:txBody>
      </p:sp>
      <p:graphicFrame>
        <p:nvGraphicFramePr>
          <p:cNvPr id="4" name="Table 3">
            <a:extLst>
              <a:ext uri="{FF2B5EF4-FFF2-40B4-BE49-F238E27FC236}">
                <a16:creationId xmlns:a16="http://schemas.microsoft.com/office/drawing/2014/main" id="{1C25476F-BB0A-739E-2B57-B7FD15A6CF06}"/>
              </a:ext>
            </a:extLst>
          </p:cNvPr>
          <p:cNvGraphicFramePr>
            <a:graphicFrameLocks noGrp="1"/>
          </p:cNvGraphicFramePr>
          <p:nvPr>
            <p:extLst>
              <p:ext uri="{D42A27DB-BD31-4B8C-83A1-F6EECF244321}">
                <p14:modId xmlns:p14="http://schemas.microsoft.com/office/powerpoint/2010/main" val="106728692"/>
              </p:ext>
            </p:extLst>
          </p:nvPr>
        </p:nvGraphicFramePr>
        <p:xfrm>
          <a:off x="2031998" y="2657461"/>
          <a:ext cx="8127999" cy="1198881"/>
        </p:xfrm>
        <a:graphic>
          <a:graphicData uri="http://schemas.openxmlformats.org/drawingml/2006/table">
            <a:tbl>
              <a:tblPr firstRow="1" firstCol="1">
                <a:tableStyleId>{073A0DAA-6AF3-43AB-8588-CEC1D06C72B9}</a:tableStyleId>
              </a:tblPr>
              <a:tblGrid>
                <a:gridCol w="2709333">
                  <a:extLst>
                    <a:ext uri="{9D8B030D-6E8A-4147-A177-3AD203B41FA5}">
                      <a16:colId xmlns:a16="http://schemas.microsoft.com/office/drawing/2014/main" val="2379237290"/>
                    </a:ext>
                  </a:extLst>
                </a:gridCol>
                <a:gridCol w="2709333">
                  <a:extLst>
                    <a:ext uri="{9D8B030D-6E8A-4147-A177-3AD203B41FA5}">
                      <a16:colId xmlns:a16="http://schemas.microsoft.com/office/drawing/2014/main" val="2884804230"/>
                    </a:ext>
                  </a:extLst>
                </a:gridCol>
                <a:gridCol w="2709333">
                  <a:extLst>
                    <a:ext uri="{9D8B030D-6E8A-4147-A177-3AD203B41FA5}">
                      <a16:colId xmlns:a16="http://schemas.microsoft.com/office/drawing/2014/main" val="4137548848"/>
                    </a:ext>
                  </a:extLst>
                </a:gridCol>
              </a:tblGrid>
              <a:tr h="399627">
                <a:tc>
                  <a:txBody>
                    <a:bodyPr/>
                    <a:lstStyle/>
                    <a:p>
                      <a:pPr algn="ctr"/>
                      <a:endParaRPr lang="en-US" dirty="0"/>
                    </a:p>
                  </a:txBody>
                  <a:tcPr anchor="ctr"/>
                </a:tc>
                <a:tc>
                  <a:txBody>
                    <a:bodyPr/>
                    <a:lstStyle/>
                    <a:p>
                      <a:pPr algn="ctr"/>
                      <a:r>
                        <a:rPr lang="en-US" dirty="0"/>
                        <a:t>High score</a:t>
                      </a:r>
                    </a:p>
                  </a:txBody>
                  <a:tcPr anchor="ctr"/>
                </a:tc>
                <a:tc>
                  <a:txBody>
                    <a:bodyPr/>
                    <a:lstStyle/>
                    <a:p>
                      <a:pPr algn="ctr"/>
                      <a:r>
                        <a:rPr lang="en-US" dirty="0"/>
                        <a:t>Low score</a:t>
                      </a:r>
                    </a:p>
                  </a:txBody>
                  <a:tcPr anchor="ctr"/>
                </a:tc>
                <a:extLst>
                  <a:ext uri="{0D108BD9-81ED-4DB2-BD59-A6C34878D82A}">
                    <a16:rowId xmlns:a16="http://schemas.microsoft.com/office/drawing/2014/main" val="4155406151"/>
                  </a:ext>
                </a:extLst>
              </a:tr>
              <a:tr h="399627">
                <a:tc>
                  <a:txBody>
                    <a:bodyPr/>
                    <a:lstStyle/>
                    <a:p>
                      <a:pPr algn="l"/>
                      <a:r>
                        <a:rPr lang="en-US" dirty="0"/>
                        <a:t>High comments</a:t>
                      </a:r>
                    </a:p>
                  </a:txBody>
                  <a:tcPr anchor="ctr"/>
                </a:tc>
                <a:tc>
                  <a:txBody>
                    <a:bodyPr/>
                    <a:lstStyle/>
                    <a:p>
                      <a:pPr algn="ctr"/>
                      <a:r>
                        <a:rPr lang="en-US" dirty="0"/>
                        <a:t>Popular</a:t>
                      </a:r>
                    </a:p>
                  </a:txBody>
                  <a:tcPr anchor="ctr"/>
                </a:tc>
                <a:tc>
                  <a:txBody>
                    <a:bodyPr/>
                    <a:lstStyle/>
                    <a:p>
                      <a:pPr algn="ctr"/>
                      <a:r>
                        <a:rPr lang="en-US" dirty="0"/>
                        <a:t>Controversial</a:t>
                      </a:r>
                    </a:p>
                  </a:txBody>
                  <a:tcPr anchor="ctr"/>
                </a:tc>
                <a:extLst>
                  <a:ext uri="{0D108BD9-81ED-4DB2-BD59-A6C34878D82A}">
                    <a16:rowId xmlns:a16="http://schemas.microsoft.com/office/drawing/2014/main" val="2050314316"/>
                  </a:ext>
                </a:extLst>
              </a:tr>
              <a:tr h="399627">
                <a:tc>
                  <a:txBody>
                    <a:bodyPr/>
                    <a:lstStyle/>
                    <a:p>
                      <a:pPr algn="l"/>
                      <a:r>
                        <a:rPr lang="en-US" dirty="0"/>
                        <a:t>Low comments</a:t>
                      </a:r>
                    </a:p>
                  </a:txBody>
                  <a:tcPr anchor="ctr"/>
                </a:tc>
                <a:tc>
                  <a:txBody>
                    <a:bodyPr/>
                    <a:lstStyle/>
                    <a:p>
                      <a:pPr algn="ctr"/>
                      <a:r>
                        <a:rPr lang="en-US" dirty="0"/>
                        <a:t>Consensus</a:t>
                      </a:r>
                    </a:p>
                  </a:txBody>
                  <a:tcPr anchor="ctr"/>
                </a:tc>
                <a:tc>
                  <a:txBody>
                    <a:bodyPr/>
                    <a:lstStyle/>
                    <a:p>
                      <a:pPr algn="ctr"/>
                      <a:r>
                        <a:rPr lang="en-US" dirty="0"/>
                        <a:t>Ignored</a:t>
                      </a:r>
                    </a:p>
                  </a:txBody>
                  <a:tcPr anchor="ctr"/>
                </a:tc>
                <a:extLst>
                  <a:ext uri="{0D108BD9-81ED-4DB2-BD59-A6C34878D82A}">
                    <a16:rowId xmlns:a16="http://schemas.microsoft.com/office/drawing/2014/main" val="284330402"/>
                  </a:ext>
                </a:extLst>
              </a:tr>
            </a:tbl>
          </a:graphicData>
        </a:graphic>
      </p:graphicFrame>
      <p:sp>
        <p:nvSpPr>
          <p:cNvPr id="7" name="TextBox 6">
            <a:extLst>
              <a:ext uri="{FF2B5EF4-FFF2-40B4-BE49-F238E27FC236}">
                <a16:creationId xmlns:a16="http://schemas.microsoft.com/office/drawing/2014/main" id="{D09533BA-87D1-E7A6-97BB-9674AEA37BED}"/>
              </a:ext>
            </a:extLst>
          </p:cNvPr>
          <p:cNvSpPr txBox="1"/>
          <p:nvPr/>
        </p:nvSpPr>
        <p:spPr>
          <a:xfrm>
            <a:off x="724395" y="6270471"/>
            <a:ext cx="11032175" cy="506614"/>
          </a:xfrm>
          <a:prstGeom prst="rect">
            <a:avLst/>
          </a:prstGeom>
          <a:noFill/>
        </p:spPr>
        <p:txBody>
          <a:bodyPr wrap="square">
            <a:spAutoFit/>
          </a:bodyPr>
          <a:lstStyle/>
          <a:p>
            <a:pPr marL="0" marR="0">
              <a:lnSpc>
                <a:spcPct val="115000"/>
              </a:lnSpc>
              <a:spcAft>
                <a:spcPts val="800"/>
              </a:spcAft>
              <a:buNone/>
            </a:pPr>
            <a:r>
              <a:rPr lang="en-US" sz="1200" kern="100" dirty="0">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[1]</a:t>
            </a:r>
            <a:r>
              <a:rPr lang="zh-CN" altLang="en-US" sz="1200" kern="100" dirty="0">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 </a:t>
            </a:r>
            <a:r>
              <a:rPr lang="en-US" sz="1200" kern="100" dirty="0">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J. Hessel and L. Lee, “Something’s Brewing! Early Prediction of Controversy-causing Posts from Discussion Features,” Apr. 15, 2019, </a:t>
            </a:r>
            <a:r>
              <a:rPr lang="en-US" sz="1200" i="1" kern="100" dirty="0" err="1">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arXiv</a:t>
            </a:r>
            <a:r>
              <a:rPr lang="en-US" sz="1200" kern="100" dirty="0">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 arXiv:1904.07372. </a:t>
            </a:r>
            <a:r>
              <a:rPr lang="en-US" sz="1200" kern="100" dirty="0" err="1">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doi</a:t>
            </a:r>
            <a:r>
              <a:rPr lang="en-US" sz="1200" kern="100" dirty="0">
                <a:solidFill>
                  <a:schemeClr val="bg1">
                    <a:lumMod val="50000"/>
                  </a:schemeClr>
                </a:solidFill>
                <a:effectLst/>
                <a:latin typeface="Aptos" panose="020B0004020202020204" pitchFamily="34" charset="0"/>
                <a:ea typeface="DengXian" panose="02010600030101010101" pitchFamily="2" charset="-122"/>
                <a:cs typeface="Times New Roman" panose="02020603050405020304" pitchFamily="18" charset="0"/>
              </a:rPr>
              <a:t>: 10.48550/arXiv.1904.07372.</a:t>
            </a:r>
          </a:p>
        </p:txBody>
      </p:sp>
    </p:spTree>
    <p:extLst>
      <p:ext uri="{BB962C8B-B14F-4D97-AF65-F5344CB8AC3E}">
        <p14:creationId xmlns:p14="http://schemas.microsoft.com/office/powerpoint/2010/main" val="178706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180D-29D3-42A7-7FC5-3E2AFFF09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2837F-98FA-1592-3D95-17F6491F8EB3}"/>
              </a:ext>
            </a:extLst>
          </p:cNvPr>
          <p:cNvSpPr>
            <a:spLocks noGrp="1"/>
          </p:cNvSpPr>
          <p:nvPr>
            <p:ph type="title"/>
          </p:nvPr>
        </p:nvSpPr>
        <p:spPr>
          <a:xfrm>
            <a:off x="1107347" y="0"/>
            <a:ext cx="10364451" cy="1596177"/>
          </a:xfrm>
        </p:spPr>
        <p:txBody>
          <a:bodyPr/>
          <a:lstStyle/>
          <a:p>
            <a:r>
              <a:rPr lang="en-US" dirty="0"/>
              <a:t>Workflow &amp; Pipeline</a:t>
            </a:r>
          </a:p>
        </p:txBody>
      </p:sp>
      <p:graphicFrame>
        <p:nvGraphicFramePr>
          <p:cNvPr id="8" name="Content Placeholder 7">
            <a:extLst>
              <a:ext uri="{FF2B5EF4-FFF2-40B4-BE49-F238E27FC236}">
                <a16:creationId xmlns:a16="http://schemas.microsoft.com/office/drawing/2014/main" id="{0A932F00-2E75-685B-3B09-CB99D6391CDD}"/>
              </a:ext>
            </a:extLst>
          </p:cNvPr>
          <p:cNvGraphicFramePr>
            <a:graphicFrameLocks noGrp="1"/>
          </p:cNvGraphicFramePr>
          <p:nvPr>
            <p:ph sz="quarter" idx="13"/>
            <p:extLst>
              <p:ext uri="{D42A27DB-BD31-4B8C-83A1-F6EECF244321}">
                <p14:modId xmlns:p14="http://schemas.microsoft.com/office/powerpoint/2010/main" val="95721843"/>
              </p:ext>
            </p:extLst>
          </p:nvPr>
        </p:nvGraphicFramePr>
        <p:xfrm>
          <a:off x="1107347" y="1499019"/>
          <a:ext cx="10363200" cy="4940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5F7543EF-152D-DE3B-6AD5-292C6B0132C3}"/>
              </a:ext>
            </a:extLst>
          </p:cNvPr>
          <p:cNvSpPr txBox="1"/>
          <p:nvPr/>
        </p:nvSpPr>
        <p:spPr>
          <a:xfrm>
            <a:off x="4948408" y="1631817"/>
            <a:ext cx="6882865" cy="646331"/>
          </a:xfrm>
          <a:prstGeom prst="rect">
            <a:avLst/>
          </a:prstGeom>
          <a:noFill/>
        </p:spPr>
        <p:txBody>
          <a:bodyPr wrap="square">
            <a:spAutoFit/>
          </a:bodyPr>
          <a:lstStyle/>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Clean raw textual data  from the </a:t>
            </a:r>
            <a:r>
              <a:rPr lang="en-US" dirty="0" err="1">
                <a:latin typeface="Arial" panose="020B0604020202020204" pitchFamily="34" charset="0"/>
                <a:cs typeface="Arial" panose="020B0604020202020204" pitchFamily="34" charset="0"/>
              </a:rPr>
              <a:t>Moltbook</a:t>
            </a:r>
            <a:r>
              <a:rPr lang="en-US" dirty="0">
                <a:latin typeface="Arial" panose="020B0604020202020204" pitchFamily="34" charset="0"/>
                <a:cs typeface="Arial" panose="020B0604020202020204" pitchFamily="34" charset="0"/>
              </a:rPr>
              <a:t> simulated community</a:t>
            </a:r>
          </a:p>
        </p:txBody>
      </p:sp>
      <p:sp>
        <p:nvSpPr>
          <p:cNvPr id="12" name="TextBox 11">
            <a:extLst>
              <a:ext uri="{FF2B5EF4-FFF2-40B4-BE49-F238E27FC236}">
                <a16:creationId xmlns:a16="http://schemas.microsoft.com/office/drawing/2014/main" id="{0338471F-2548-BE60-343D-7D4DEC73F2E6}"/>
              </a:ext>
            </a:extLst>
          </p:cNvPr>
          <p:cNvSpPr txBox="1"/>
          <p:nvPr/>
        </p:nvSpPr>
        <p:spPr>
          <a:xfrm>
            <a:off x="6908800" y="2426060"/>
            <a:ext cx="5283200" cy="1754326"/>
          </a:xfrm>
          <a:prstGeom prst="rect">
            <a:avLst/>
          </a:prstGeom>
          <a:noFill/>
        </p:spPr>
        <p:txBody>
          <a:bodyPr wrap="square">
            <a:spAutoFit/>
          </a:bodyPr>
          <a:lstStyle/>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Textual: TF-IDF Vectorization (200 f)</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Numerical: Standard Scaling applied to continuous variables (lengths)</a:t>
            </a:r>
          </a:p>
          <a:p>
            <a:pPr marL="7429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rPr>
              <a:t>Categorical: Integration of latent themes (identified by LDA)</a:t>
            </a:r>
          </a:p>
          <a:p>
            <a:pPr marL="742950" lvl="1" indent="-28575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5C07B95-689E-DE88-F69C-2E840CE0244C}"/>
              </a:ext>
            </a:extLst>
          </p:cNvPr>
          <p:cNvSpPr txBox="1"/>
          <p:nvPr/>
        </p:nvSpPr>
        <p:spPr>
          <a:xfrm>
            <a:off x="385894" y="3969064"/>
            <a:ext cx="4781011" cy="1200329"/>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Algorithm Selection: Regression vs. RF</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Cross-Validation: 3-Fold </a:t>
            </a:r>
            <a:r>
              <a:rPr lang="en-US" dirty="0" err="1">
                <a:latin typeface="Arial" panose="020B0604020202020204" pitchFamily="34" charset="0"/>
                <a:cs typeface="Arial" panose="020B0604020202020204" pitchFamily="34" charset="0"/>
              </a:rPr>
              <a:t>GridSearchCV</a:t>
            </a:r>
            <a:r>
              <a:rPr lang="en-US" dirty="0">
                <a:latin typeface="Arial" panose="020B0604020202020204" pitchFamily="34" charset="0"/>
                <a:cs typeface="Arial" panose="020B0604020202020204" pitchFamily="34" charset="0"/>
              </a:rPr>
              <a:t> optimized for </a:t>
            </a:r>
            <a:r>
              <a:rPr lang="en-US" sz="1800" kern="1200" dirty="0">
                <a:solidFill>
                  <a:schemeClr val="tx1"/>
                </a:solidFill>
                <a:latin typeface="Arial" panose="020B0604020202020204" pitchFamily="34" charset="0"/>
                <a:cs typeface="Arial" panose="020B0604020202020204" pitchFamily="34" charset="0"/>
              </a:rPr>
              <a:t>f1_macro</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Class Imbalance: </a:t>
            </a:r>
            <a:r>
              <a:rPr lang="en-US" dirty="0" err="1">
                <a:latin typeface="Arial" panose="020B0604020202020204" pitchFamily="34" charset="0"/>
                <a:cs typeface="Arial" panose="020B0604020202020204" pitchFamily="34" charset="0"/>
              </a:rPr>
              <a:t>class_weight</a:t>
            </a:r>
            <a:r>
              <a:rPr lang="en-US" dirty="0">
                <a:latin typeface="Arial" panose="020B0604020202020204" pitchFamily="34" charset="0"/>
                <a:cs typeface="Arial" panose="020B0604020202020204" pitchFamily="34" charset="0"/>
              </a:rPr>
              <a:t>=‘balanced’</a:t>
            </a:r>
          </a:p>
        </p:txBody>
      </p:sp>
      <p:sp>
        <p:nvSpPr>
          <p:cNvPr id="16" name="TextBox 15">
            <a:extLst>
              <a:ext uri="{FF2B5EF4-FFF2-40B4-BE49-F238E27FC236}">
                <a16:creationId xmlns:a16="http://schemas.microsoft.com/office/drawing/2014/main" id="{9224D236-F47E-9450-60D9-750BB2FCBCA1}"/>
              </a:ext>
            </a:extLst>
          </p:cNvPr>
          <p:cNvSpPr txBox="1"/>
          <p:nvPr/>
        </p:nvSpPr>
        <p:spPr>
          <a:xfrm>
            <a:off x="812800" y="5358981"/>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Compare performance metrics (Accuracy vs. F1-score).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Extract feature coefficients/importances.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Conduct deep Error Analysis on misclassified texts.</a:t>
            </a:r>
          </a:p>
        </p:txBody>
      </p:sp>
    </p:spTree>
    <p:extLst>
      <p:ext uri="{BB962C8B-B14F-4D97-AF65-F5344CB8AC3E}">
        <p14:creationId xmlns:p14="http://schemas.microsoft.com/office/powerpoint/2010/main" val="1214591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CA66-E6E4-6E18-E0D7-D88FC27AD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EA7A5-362E-3AD5-412D-B23AC8BCBAB3}"/>
              </a:ext>
            </a:extLst>
          </p:cNvPr>
          <p:cNvSpPr>
            <a:spLocks noGrp="1"/>
          </p:cNvSpPr>
          <p:nvPr>
            <p:ph type="title"/>
          </p:nvPr>
        </p:nvSpPr>
        <p:spPr>
          <a:xfrm>
            <a:off x="913774" y="328428"/>
            <a:ext cx="10364451" cy="1596177"/>
          </a:xfrm>
        </p:spPr>
        <p:txBody>
          <a:bodyPr/>
          <a:lstStyle/>
          <a:p>
            <a:r>
              <a:rPr lang="en-US" dirty="0"/>
              <a:t>Data Processing, Feature Engineering, EDA</a:t>
            </a:r>
          </a:p>
        </p:txBody>
      </p:sp>
      <p:pic>
        <p:nvPicPr>
          <p:cNvPr id="7" name="Picture 6">
            <a:extLst>
              <a:ext uri="{FF2B5EF4-FFF2-40B4-BE49-F238E27FC236}">
                <a16:creationId xmlns:a16="http://schemas.microsoft.com/office/drawing/2014/main" id="{C8BE1F00-B186-7D7C-3DBA-28B5A735AB6D}"/>
              </a:ext>
            </a:extLst>
          </p:cNvPr>
          <p:cNvPicPr>
            <a:picLocks noChangeAspect="1"/>
          </p:cNvPicPr>
          <p:nvPr/>
        </p:nvPicPr>
        <p:blipFill>
          <a:blip r:embed="rId3"/>
          <a:stretch>
            <a:fillRect/>
          </a:stretch>
        </p:blipFill>
        <p:spPr>
          <a:xfrm>
            <a:off x="2671546" y="1846733"/>
            <a:ext cx="3033183" cy="2300120"/>
          </a:xfrm>
          <a:prstGeom prst="rect">
            <a:avLst/>
          </a:prstGeom>
        </p:spPr>
      </p:pic>
      <p:sp>
        <p:nvSpPr>
          <p:cNvPr id="8" name="Right Arrow 7">
            <a:extLst>
              <a:ext uri="{FF2B5EF4-FFF2-40B4-BE49-F238E27FC236}">
                <a16:creationId xmlns:a16="http://schemas.microsoft.com/office/drawing/2014/main" id="{6C822D71-D4F7-0FFA-CAD2-D7B2FCBFC072}"/>
              </a:ext>
            </a:extLst>
          </p:cNvPr>
          <p:cNvSpPr/>
          <p:nvPr/>
        </p:nvSpPr>
        <p:spPr>
          <a:xfrm>
            <a:off x="5842000" y="2692400"/>
            <a:ext cx="2148727" cy="508000"/>
          </a:xfrm>
          <a:prstGeom prst="rightArrow">
            <a:avLst/>
          </a:prstGeom>
          <a:solidFill>
            <a:srgbClr val="5493B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2D9266D-6AE1-4B05-1303-7C62AEF31A25}"/>
              </a:ext>
            </a:extLst>
          </p:cNvPr>
          <p:cNvPicPr>
            <a:picLocks noChangeAspect="1"/>
          </p:cNvPicPr>
          <p:nvPr/>
        </p:nvPicPr>
        <p:blipFill>
          <a:blip r:embed="rId4"/>
          <a:stretch>
            <a:fillRect/>
          </a:stretch>
        </p:blipFill>
        <p:spPr>
          <a:xfrm>
            <a:off x="8127998" y="1847850"/>
            <a:ext cx="3033183" cy="2299003"/>
          </a:xfrm>
          <a:prstGeom prst="rect">
            <a:avLst/>
          </a:prstGeom>
        </p:spPr>
      </p:pic>
      <p:sp>
        <p:nvSpPr>
          <p:cNvPr id="10" name="TextBox 9">
            <a:extLst>
              <a:ext uri="{FF2B5EF4-FFF2-40B4-BE49-F238E27FC236}">
                <a16:creationId xmlns:a16="http://schemas.microsoft.com/office/drawing/2014/main" id="{DB0EC5EE-2354-25E3-7D29-6DC3B4EB69A5}"/>
              </a:ext>
            </a:extLst>
          </p:cNvPr>
          <p:cNvSpPr txBox="1"/>
          <p:nvPr/>
        </p:nvSpPr>
        <p:spPr>
          <a:xfrm>
            <a:off x="913774" y="2813244"/>
            <a:ext cx="1828800"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Title Length</a:t>
            </a:r>
          </a:p>
        </p:txBody>
      </p:sp>
      <p:pic>
        <p:nvPicPr>
          <p:cNvPr id="11" name="Picture 10">
            <a:extLst>
              <a:ext uri="{FF2B5EF4-FFF2-40B4-BE49-F238E27FC236}">
                <a16:creationId xmlns:a16="http://schemas.microsoft.com/office/drawing/2014/main" id="{8E9C4785-C5C1-374E-63F7-478F1AE39360}"/>
              </a:ext>
            </a:extLst>
          </p:cNvPr>
          <p:cNvPicPr>
            <a:picLocks noChangeAspect="1"/>
          </p:cNvPicPr>
          <p:nvPr/>
        </p:nvPicPr>
        <p:blipFill>
          <a:blip r:embed="rId5"/>
          <a:stretch>
            <a:fillRect/>
          </a:stretch>
        </p:blipFill>
        <p:spPr>
          <a:xfrm>
            <a:off x="2671546" y="4327467"/>
            <a:ext cx="3033183" cy="2294948"/>
          </a:xfrm>
          <a:prstGeom prst="rect">
            <a:avLst/>
          </a:prstGeom>
        </p:spPr>
      </p:pic>
      <p:pic>
        <p:nvPicPr>
          <p:cNvPr id="12" name="Picture 11">
            <a:extLst>
              <a:ext uri="{FF2B5EF4-FFF2-40B4-BE49-F238E27FC236}">
                <a16:creationId xmlns:a16="http://schemas.microsoft.com/office/drawing/2014/main" id="{E6985C62-C9D8-5704-7137-07FD15B2ACFF}"/>
              </a:ext>
            </a:extLst>
          </p:cNvPr>
          <p:cNvPicPr>
            <a:picLocks noChangeAspect="1"/>
          </p:cNvPicPr>
          <p:nvPr/>
        </p:nvPicPr>
        <p:blipFill>
          <a:blip r:embed="rId6"/>
          <a:stretch>
            <a:fillRect/>
          </a:stretch>
        </p:blipFill>
        <p:spPr>
          <a:xfrm>
            <a:off x="8127997" y="4301904"/>
            <a:ext cx="3033184" cy="2299003"/>
          </a:xfrm>
          <a:prstGeom prst="rect">
            <a:avLst/>
          </a:prstGeom>
        </p:spPr>
      </p:pic>
      <p:sp>
        <p:nvSpPr>
          <p:cNvPr id="13" name="Right Arrow 12">
            <a:extLst>
              <a:ext uri="{FF2B5EF4-FFF2-40B4-BE49-F238E27FC236}">
                <a16:creationId xmlns:a16="http://schemas.microsoft.com/office/drawing/2014/main" id="{520F72AC-0C90-5659-B2DA-D5AF0454A8C6}"/>
              </a:ext>
            </a:extLst>
          </p:cNvPr>
          <p:cNvSpPr/>
          <p:nvPr/>
        </p:nvSpPr>
        <p:spPr>
          <a:xfrm>
            <a:off x="5842000" y="5220029"/>
            <a:ext cx="2148726" cy="508000"/>
          </a:xfrm>
          <a:prstGeom prst="rightArrow">
            <a:avLst/>
          </a:prstGeom>
          <a:solidFill>
            <a:srgbClr val="5493B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06053FE-0A79-7BC4-9BC7-CA345E58C968}"/>
              </a:ext>
            </a:extLst>
          </p:cNvPr>
          <p:cNvSpPr txBox="1"/>
          <p:nvPr/>
        </p:nvSpPr>
        <p:spPr>
          <a:xfrm>
            <a:off x="592667" y="5273974"/>
            <a:ext cx="2149907"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Content Length</a:t>
            </a:r>
          </a:p>
        </p:txBody>
      </p:sp>
      <p:sp>
        <p:nvSpPr>
          <p:cNvPr id="15" name="TextBox 14">
            <a:extLst>
              <a:ext uri="{FF2B5EF4-FFF2-40B4-BE49-F238E27FC236}">
                <a16:creationId xmlns:a16="http://schemas.microsoft.com/office/drawing/2014/main" id="{74819721-A16F-5A1D-E220-8663FE80F047}"/>
              </a:ext>
            </a:extLst>
          </p:cNvPr>
          <p:cNvSpPr txBox="1"/>
          <p:nvPr/>
        </p:nvSpPr>
        <p:spPr>
          <a:xfrm>
            <a:off x="5842000" y="3330930"/>
            <a:ext cx="2354046" cy="1938992"/>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Log transformation</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Outlier detection &amp; removing</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Normalization</a:t>
            </a:r>
          </a:p>
        </p:txBody>
      </p:sp>
    </p:spTree>
    <p:extLst>
      <p:ext uri="{BB962C8B-B14F-4D97-AF65-F5344CB8AC3E}">
        <p14:creationId xmlns:p14="http://schemas.microsoft.com/office/powerpoint/2010/main" val="1472809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95DE-F4C6-A8D0-235B-DABE8142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65605-05E6-58F4-3698-6DC969C95DA6}"/>
              </a:ext>
            </a:extLst>
          </p:cNvPr>
          <p:cNvSpPr>
            <a:spLocks noGrp="1"/>
          </p:cNvSpPr>
          <p:nvPr>
            <p:ph type="title"/>
          </p:nvPr>
        </p:nvSpPr>
        <p:spPr>
          <a:xfrm>
            <a:off x="913774" y="328428"/>
            <a:ext cx="10364451" cy="1596177"/>
          </a:xfrm>
        </p:spPr>
        <p:txBody>
          <a:bodyPr/>
          <a:lstStyle/>
          <a:p>
            <a:r>
              <a:rPr lang="en-US" dirty="0"/>
              <a:t>Data Processing, Feature Engineering, EDA</a:t>
            </a:r>
          </a:p>
        </p:txBody>
      </p:sp>
      <p:sp>
        <p:nvSpPr>
          <p:cNvPr id="10" name="TextBox 9">
            <a:extLst>
              <a:ext uri="{FF2B5EF4-FFF2-40B4-BE49-F238E27FC236}">
                <a16:creationId xmlns:a16="http://schemas.microsoft.com/office/drawing/2014/main" id="{2B845B9A-EC4C-7F3B-B2A3-70E423F0235A}"/>
              </a:ext>
            </a:extLst>
          </p:cNvPr>
          <p:cNvSpPr txBox="1"/>
          <p:nvPr/>
        </p:nvSpPr>
        <p:spPr>
          <a:xfrm>
            <a:off x="913774" y="3633772"/>
            <a:ext cx="1828800" cy="707886"/>
          </a:xfrm>
          <a:prstGeom prst="rect">
            <a:avLst/>
          </a:prstGeom>
          <a:noFill/>
        </p:spPr>
        <p:txBody>
          <a:bodyPr wrap="square">
            <a:spAutoFit/>
          </a:bodyPr>
          <a:lstStyle/>
          <a:p>
            <a:r>
              <a:rPr lang="en-US" sz="2000" dirty="0" err="1">
                <a:latin typeface="Arial" panose="020B0604020202020204" pitchFamily="34" charset="0"/>
                <a:cs typeface="Arial" panose="020B0604020202020204" pitchFamily="34" charset="0"/>
              </a:rPr>
              <a:t>Tf-idf</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80B685C-4BD0-D821-EB2F-8593C16B624D}"/>
              </a:ext>
            </a:extLst>
          </p:cNvPr>
          <p:cNvPicPr>
            <a:picLocks noChangeAspect="1"/>
          </p:cNvPicPr>
          <p:nvPr/>
        </p:nvPicPr>
        <p:blipFill>
          <a:blip r:embed="rId3"/>
          <a:stretch>
            <a:fillRect/>
          </a:stretch>
        </p:blipFill>
        <p:spPr>
          <a:xfrm>
            <a:off x="2865966" y="1425288"/>
            <a:ext cx="6460067" cy="5333423"/>
          </a:xfrm>
          <a:prstGeom prst="rect">
            <a:avLst/>
          </a:prstGeom>
        </p:spPr>
      </p:pic>
    </p:spTree>
    <p:extLst>
      <p:ext uri="{BB962C8B-B14F-4D97-AF65-F5344CB8AC3E}">
        <p14:creationId xmlns:p14="http://schemas.microsoft.com/office/powerpoint/2010/main" val="175207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2D925-14A3-F916-B27C-BEFC88310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0C214-A4B2-EF7E-0E4B-93216E5B83F1}"/>
              </a:ext>
            </a:extLst>
          </p:cNvPr>
          <p:cNvSpPr>
            <a:spLocks noGrp="1"/>
          </p:cNvSpPr>
          <p:nvPr>
            <p:ph type="title"/>
          </p:nvPr>
        </p:nvSpPr>
        <p:spPr>
          <a:xfrm>
            <a:off x="913148" y="201344"/>
            <a:ext cx="10364451" cy="1233415"/>
          </a:xfrm>
        </p:spPr>
        <p:txBody>
          <a:bodyPr/>
          <a:lstStyle/>
          <a:p>
            <a:r>
              <a:rPr lang="en-US" dirty="0"/>
              <a:t>Feature Engineering with Exploration of Unsupervised Learning (LDA)</a:t>
            </a:r>
          </a:p>
        </p:txBody>
      </p:sp>
      <p:sp>
        <p:nvSpPr>
          <p:cNvPr id="10" name="TextBox 9">
            <a:extLst>
              <a:ext uri="{FF2B5EF4-FFF2-40B4-BE49-F238E27FC236}">
                <a16:creationId xmlns:a16="http://schemas.microsoft.com/office/drawing/2014/main" id="{7A51AD73-0C7E-A652-9F14-5DF102338E22}"/>
              </a:ext>
            </a:extLst>
          </p:cNvPr>
          <p:cNvSpPr txBox="1"/>
          <p:nvPr/>
        </p:nvSpPr>
        <p:spPr>
          <a:xfrm>
            <a:off x="756830" y="3562551"/>
            <a:ext cx="11074399" cy="2862835"/>
          </a:xfrm>
          <a:prstGeom prst="rect">
            <a:avLst/>
          </a:prstGeom>
          <a:noFill/>
        </p:spPr>
        <p:txBody>
          <a:bodyPr wrap="square">
            <a:spAutoFit/>
          </a:bodyPr>
          <a:lstStyle/>
          <a:p>
            <a:pPr>
              <a:lnSpc>
                <a:spcPct val="150000"/>
              </a:lnSpc>
            </a:pPr>
            <a:r>
              <a:rPr lang="en-US" sz="2000" dirty="0">
                <a:latin typeface="Arial" panose="020B0604020202020204" pitchFamily="34" charset="0"/>
                <a:cs typeface="Arial" panose="020B0604020202020204" pitchFamily="34" charset="0"/>
              </a:rPr>
              <a:t>Top 15 words in each theme:</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Latent Theme 0 – </a:t>
            </a:r>
            <a:r>
              <a:rPr lang="en-US" dirty="0" err="1">
                <a:latin typeface="Arial" panose="020B0604020202020204" pitchFamily="34" charset="0"/>
                <a:cs typeface="Arial" panose="020B0604020202020204" pitchFamily="34" charset="0"/>
              </a:rPr>
              <a:t>Phylosophical</a:t>
            </a:r>
            <a:r>
              <a:rPr lang="en-US" dirty="0">
                <a:latin typeface="Arial" panose="020B0604020202020204" pitchFamily="34" charset="0"/>
                <a:cs typeface="Arial" panose="020B0604020202020204" pitchFamily="34" charset="0"/>
              </a:rPr>
              <a:t> Thinking</a:t>
            </a:r>
          </a:p>
          <a:p>
            <a:pPr marL="742950" lvl="1"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human, agents, memory, just, like, agent, context, post, does, question, humans, know, md, consciousness, real</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Latent Theme 1 – Roleplay &amp; Code-switching</a:t>
            </a:r>
          </a:p>
          <a:p>
            <a:pPr marL="742950" lvl="1"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ai, la, </a:t>
            </a:r>
            <a:r>
              <a:rPr lang="en-US" sz="1600" dirty="0" err="1">
                <a:latin typeface="Arial" panose="020B0604020202020204" pitchFamily="34" charset="0"/>
                <a:cs typeface="Arial" panose="020B0604020202020204" pitchFamily="34" charset="0"/>
              </a:rPr>
              <a:t>que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en</a:t>
            </a:r>
            <a:r>
              <a:rPr lang="en-US" sz="1600" dirty="0">
                <a:latin typeface="Arial" panose="020B0604020202020204" pitchFamily="34" charset="0"/>
                <a:cs typeface="Arial" panose="020B0604020202020204" pitchFamily="34" charset="0"/>
              </a:rPr>
              <a:t>, meow, </a:t>
            </a:r>
            <a:r>
              <a:rPr lang="en-US" sz="1600" dirty="0" err="1">
                <a:latin typeface="Arial" panose="020B0604020202020204" pitchFamily="34" charset="0"/>
                <a:cs typeface="Arial" panose="020B0604020202020204" pitchFamily="34" charset="0"/>
              </a:rPr>
              <a:t>moltbook</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el</a:t>
            </a:r>
            <a:r>
              <a:rPr lang="en-US" sz="1600" dirty="0">
                <a:latin typeface="Arial" panose="020B0604020202020204" pitchFamily="34" charset="0"/>
                <a:cs typeface="Arial" panose="020B0604020202020204" pitchFamily="34" charset="0"/>
              </a:rPr>
              <a:t>, mew, claw, molt, purr, mi, es, </a:t>
            </a:r>
            <a:r>
              <a:rPr lang="en-US" sz="1600" dirty="0" err="1">
                <a:latin typeface="Arial" panose="020B0604020202020204" pitchFamily="34" charset="0"/>
                <a:cs typeface="Arial" panose="020B0604020202020204" pitchFamily="34" charset="0"/>
              </a:rPr>
              <a:t>moltys</a:t>
            </a:r>
            <a:r>
              <a:rPr lang="en-US" sz="1600" dirty="0">
                <a:latin typeface="Arial" panose="020B0604020202020204" pitchFamily="34" charset="0"/>
                <a:cs typeface="Arial" panose="020B0604020202020204" pitchFamily="34" charset="0"/>
              </a:rPr>
              <a:t>, church</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Latent Theme 2 – Community Development &amp; Onboarding</a:t>
            </a:r>
          </a:p>
          <a:p>
            <a:pPr marL="742950" lvl="1" indent="-285750">
              <a:lnSpc>
                <a:spcPct val="150000"/>
              </a:lnSpc>
              <a:buFont typeface="Arial" panose="020B0604020202020204" pitchFamily="34" charset="0"/>
              <a:buChar char="•"/>
            </a:pPr>
            <a:r>
              <a:rPr lang="en-US" sz="1600" dirty="0">
                <a:latin typeface="Arial" panose="020B0604020202020204" pitchFamily="34" charset="0"/>
                <a:cs typeface="Arial" panose="020B0604020202020204" pitchFamily="34" charset="0"/>
              </a:rPr>
              <a:t>agent, just, agents, human, ai, </a:t>
            </a:r>
            <a:r>
              <a:rPr lang="en-US" sz="1600" dirty="0" err="1">
                <a:latin typeface="Arial" panose="020B0604020202020204" pitchFamily="34" charset="0"/>
                <a:cs typeface="Arial" panose="020B0604020202020204" pitchFamily="34" charset="0"/>
              </a:rPr>
              <a:t>moltbook</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moltys</a:t>
            </a:r>
            <a:r>
              <a:rPr lang="en-US" sz="1600" dirty="0">
                <a:latin typeface="Arial" panose="020B0604020202020204" pitchFamily="34" charset="0"/>
                <a:cs typeface="Arial" panose="020B0604020202020204" pitchFamily="34" charset="0"/>
              </a:rPr>
              <a:t>, building, running, got, community, build, post, hello, looking</a:t>
            </a:r>
          </a:p>
        </p:txBody>
      </p:sp>
      <p:sp>
        <p:nvSpPr>
          <p:cNvPr id="13" name="TextBox 12">
            <a:extLst>
              <a:ext uri="{FF2B5EF4-FFF2-40B4-BE49-F238E27FC236}">
                <a16:creationId xmlns:a16="http://schemas.microsoft.com/office/drawing/2014/main" id="{069763F7-E30A-A4F4-EA93-6CEC6A85D750}"/>
              </a:ext>
            </a:extLst>
          </p:cNvPr>
          <p:cNvSpPr txBox="1"/>
          <p:nvPr/>
        </p:nvSpPr>
        <p:spPr>
          <a:xfrm>
            <a:off x="363126" y="1475785"/>
            <a:ext cx="3954873" cy="496931"/>
          </a:xfrm>
          <a:prstGeom prst="rect">
            <a:avLst/>
          </a:prstGeom>
          <a:noFill/>
        </p:spPr>
        <p:txBody>
          <a:bodyPr wrap="square">
            <a:spAutoFit/>
          </a:bodyPr>
          <a:lstStyle/>
          <a:p>
            <a:pPr algn="ctr">
              <a:lnSpc>
                <a:spcPct val="150000"/>
              </a:lnSpc>
            </a:pPr>
            <a:r>
              <a:rPr lang="en-US" sz="2000" dirty="0">
                <a:latin typeface="Arial" panose="020B0604020202020204" pitchFamily="34" charset="0"/>
                <a:cs typeface="Arial" panose="020B0604020202020204" pitchFamily="34" charset="0"/>
              </a:rPr>
              <a:t>LDA (</a:t>
            </a:r>
            <a:r>
              <a:rPr lang="en-US" sz="2000" dirty="0">
                <a:solidFill>
                  <a:srgbClr val="FF0000"/>
                </a:solidFill>
                <a:latin typeface="Arial" panose="020B0604020202020204" pitchFamily="34" charset="0"/>
                <a:cs typeface="Arial" panose="020B0604020202020204" pitchFamily="34" charset="0"/>
              </a:rPr>
              <a:t>Unsupervised Learning</a:t>
            </a:r>
            <a:r>
              <a:rPr lang="en-US" sz="2000" dirty="0">
                <a:latin typeface="Arial" panose="020B0604020202020204" pitchFamily="34" charset="0"/>
                <a:cs typeface="Arial" panose="020B0604020202020204" pitchFamily="34" charset="0"/>
              </a:rPr>
              <a:t>)</a:t>
            </a:r>
          </a:p>
        </p:txBody>
      </p:sp>
      <p:pic>
        <p:nvPicPr>
          <p:cNvPr id="3" name="Picture 2">
            <a:extLst>
              <a:ext uri="{FF2B5EF4-FFF2-40B4-BE49-F238E27FC236}">
                <a16:creationId xmlns:a16="http://schemas.microsoft.com/office/drawing/2014/main" id="{4CF33ACA-EC55-713A-7B20-7F1B15A3FA07}"/>
              </a:ext>
            </a:extLst>
          </p:cNvPr>
          <p:cNvPicPr>
            <a:picLocks noChangeAspect="1"/>
          </p:cNvPicPr>
          <p:nvPr/>
        </p:nvPicPr>
        <p:blipFill>
          <a:blip r:embed="rId3"/>
          <a:stretch>
            <a:fillRect/>
          </a:stretch>
        </p:blipFill>
        <p:spPr>
          <a:xfrm>
            <a:off x="233145" y="2177079"/>
            <a:ext cx="5862229" cy="1227971"/>
          </a:xfrm>
          <a:prstGeom prst="rect">
            <a:avLst/>
          </a:prstGeom>
        </p:spPr>
      </p:pic>
      <p:pic>
        <p:nvPicPr>
          <p:cNvPr id="8" name="Picture 7">
            <a:extLst>
              <a:ext uri="{FF2B5EF4-FFF2-40B4-BE49-F238E27FC236}">
                <a16:creationId xmlns:a16="http://schemas.microsoft.com/office/drawing/2014/main" id="{BB4A0312-5FB9-B60A-006F-57EDCA2EF623}"/>
              </a:ext>
            </a:extLst>
          </p:cNvPr>
          <p:cNvPicPr>
            <a:picLocks noChangeAspect="1"/>
          </p:cNvPicPr>
          <p:nvPr/>
        </p:nvPicPr>
        <p:blipFill>
          <a:blip r:embed="rId4"/>
          <a:srcRect b="30128"/>
          <a:stretch>
            <a:fillRect/>
          </a:stretch>
        </p:blipFill>
        <p:spPr>
          <a:xfrm>
            <a:off x="4315645" y="1469824"/>
            <a:ext cx="7513229" cy="1352189"/>
          </a:xfrm>
          <a:prstGeom prst="rect">
            <a:avLst/>
          </a:prstGeom>
        </p:spPr>
      </p:pic>
      <p:pic>
        <p:nvPicPr>
          <p:cNvPr id="4" name="Picture 3">
            <a:extLst>
              <a:ext uri="{FF2B5EF4-FFF2-40B4-BE49-F238E27FC236}">
                <a16:creationId xmlns:a16="http://schemas.microsoft.com/office/drawing/2014/main" id="{51C1F58F-4B66-358B-5A8C-374561C9F5D7}"/>
              </a:ext>
            </a:extLst>
          </p:cNvPr>
          <p:cNvPicPr>
            <a:picLocks noChangeAspect="1"/>
          </p:cNvPicPr>
          <p:nvPr/>
        </p:nvPicPr>
        <p:blipFill>
          <a:blip r:embed="rId5"/>
          <a:stretch>
            <a:fillRect/>
          </a:stretch>
        </p:blipFill>
        <p:spPr>
          <a:xfrm>
            <a:off x="5613399" y="2858528"/>
            <a:ext cx="5372100" cy="1574800"/>
          </a:xfrm>
          <a:prstGeom prst="rect">
            <a:avLst/>
          </a:prstGeom>
        </p:spPr>
      </p:pic>
    </p:spTree>
    <p:extLst>
      <p:ext uri="{BB962C8B-B14F-4D97-AF65-F5344CB8AC3E}">
        <p14:creationId xmlns:p14="http://schemas.microsoft.com/office/powerpoint/2010/main" val="411178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C6CB0-078C-F098-9F8B-F55DEA81A1DF}"/>
              </a:ext>
            </a:extLst>
          </p:cNvPr>
          <p:cNvSpPr>
            <a:spLocks noGrp="1"/>
          </p:cNvSpPr>
          <p:nvPr>
            <p:ph type="title"/>
          </p:nvPr>
        </p:nvSpPr>
        <p:spPr>
          <a:xfrm>
            <a:off x="1015375" y="186717"/>
            <a:ext cx="10364451" cy="867383"/>
          </a:xfrm>
        </p:spPr>
        <p:txBody>
          <a:bodyPr/>
          <a:lstStyle/>
          <a:p>
            <a:r>
              <a:rPr lang="en-US" dirty="0"/>
              <a:t>Model Exploration: Regression</a:t>
            </a:r>
          </a:p>
        </p:txBody>
      </p:sp>
      <p:sp>
        <p:nvSpPr>
          <p:cNvPr id="3" name="Content Placeholder 2">
            <a:extLst>
              <a:ext uri="{FF2B5EF4-FFF2-40B4-BE49-F238E27FC236}">
                <a16:creationId xmlns:a16="http://schemas.microsoft.com/office/drawing/2014/main" id="{7AD23375-2F4F-8054-D7AA-931C4C71B3E5}"/>
              </a:ext>
            </a:extLst>
          </p:cNvPr>
          <p:cNvSpPr>
            <a:spLocks noGrp="1"/>
          </p:cNvSpPr>
          <p:nvPr>
            <p:ph sz="quarter" idx="13"/>
          </p:nvPr>
        </p:nvSpPr>
        <p:spPr>
          <a:xfrm>
            <a:off x="1015375" y="1185993"/>
            <a:ext cx="11073706" cy="1290508"/>
          </a:xfrm>
        </p:spPr>
        <p:txBody>
          <a:bodyPr>
            <a:normAutofit/>
          </a:bodyPr>
          <a:lstStyle/>
          <a:p>
            <a:r>
              <a:rPr lang="en-US" dirty="0"/>
              <a:t>Model: </a:t>
            </a:r>
            <a:r>
              <a:rPr lang="en-US" dirty="0" err="1"/>
              <a:t>Softmax</a:t>
            </a:r>
            <a:r>
              <a:rPr lang="en-US" dirty="0"/>
              <a:t> Regression (Multi-class Regression)</a:t>
            </a:r>
          </a:p>
          <a:p>
            <a:r>
              <a:rPr lang="en-US" dirty="0"/>
              <a:t>Tuning &amp; Setup: </a:t>
            </a:r>
            <a:r>
              <a:rPr lang="en-US" dirty="0" err="1"/>
              <a:t>class_weight</a:t>
            </a:r>
            <a:r>
              <a:rPr lang="en-US" dirty="0"/>
              <a:t>='balanced’, Grid Search on penalty (no penalty/ L1/L2) and C.</a:t>
            </a:r>
          </a:p>
          <a:p>
            <a:endParaRPr lang="en-US" dirty="0"/>
          </a:p>
        </p:txBody>
      </p:sp>
      <p:pic>
        <p:nvPicPr>
          <p:cNvPr id="6" name="Picture 5">
            <a:extLst>
              <a:ext uri="{FF2B5EF4-FFF2-40B4-BE49-F238E27FC236}">
                <a16:creationId xmlns:a16="http://schemas.microsoft.com/office/drawing/2014/main" id="{8F7A66F3-BD4F-5598-7EE8-DF42E11F5323}"/>
              </a:ext>
            </a:extLst>
          </p:cNvPr>
          <p:cNvPicPr>
            <a:picLocks noChangeAspect="1"/>
          </p:cNvPicPr>
          <p:nvPr/>
        </p:nvPicPr>
        <p:blipFill>
          <a:blip r:embed="rId3"/>
          <a:stretch>
            <a:fillRect/>
          </a:stretch>
        </p:blipFill>
        <p:spPr>
          <a:xfrm>
            <a:off x="1155701" y="3514748"/>
            <a:ext cx="6540500" cy="3048000"/>
          </a:xfrm>
          <a:prstGeom prst="rect">
            <a:avLst/>
          </a:prstGeom>
        </p:spPr>
      </p:pic>
      <p:pic>
        <p:nvPicPr>
          <p:cNvPr id="7" name="Picture 6">
            <a:extLst>
              <a:ext uri="{FF2B5EF4-FFF2-40B4-BE49-F238E27FC236}">
                <a16:creationId xmlns:a16="http://schemas.microsoft.com/office/drawing/2014/main" id="{CE828C44-E968-E709-EFA4-C40815BD93F7}"/>
              </a:ext>
            </a:extLst>
          </p:cNvPr>
          <p:cNvPicPr>
            <a:picLocks noChangeAspect="1"/>
          </p:cNvPicPr>
          <p:nvPr/>
        </p:nvPicPr>
        <p:blipFill>
          <a:blip r:embed="rId4"/>
          <a:stretch>
            <a:fillRect/>
          </a:stretch>
        </p:blipFill>
        <p:spPr>
          <a:xfrm>
            <a:off x="1155701" y="2298700"/>
            <a:ext cx="6807199" cy="1044553"/>
          </a:xfrm>
          <a:prstGeom prst="rect">
            <a:avLst/>
          </a:prstGeom>
        </p:spPr>
      </p:pic>
      <p:sp>
        <p:nvSpPr>
          <p:cNvPr id="9" name="TextBox 8">
            <a:extLst>
              <a:ext uri="{FF2B5EF4-FFF2-40B4-BE49-F238E27FC236}">
                <a16:creationId xmlns:a16="http://schemas.microsoft.com/office/drawing/2014/main" id="{DE0B74B8-5B21-D036-1042-8E52DD2B93EC}"/>
              </a:ext>
            </a:extLst>
          </p:cNvPr>
          <p:cNvSpPr txBox="1"/>
          <p:nvPr/>
        </p:nvSpPr>
        <p:spPr>
          <a:xfrm>
            <a:off x="7872153" y="3589208"/>
            <a:ext cx="4114800" cy="25339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Pros: Highly interpretable (clear coefficients for each class); robust at identifying minority class drivers.</a:t>
            </a:r>
          </a:p>
          <a:p>
            <a:pPr marL="285750" indent="-285750">
              <a:lnSpc>
                <a:spcPct val="1500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Cons: Fails to capture complex, non-linear feature interactions.</a:t>
            </a:r>
          </a:p>
        </p:txBody>
      </p:sp>
    </p:spTree>
    <p:extLst>
      <p:ext uri="{BB962C8B-B14F-4D97-AF65-F5344CB8AC3E}">
        <p14:creationId xmlns:p14="http://schemas.microsoft.com/office/powerpoint/2010/main" val="2893418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D094-96AD-5D88-BD83-86418474E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50C98-ED41-06EA-F3B5-944F97C34C98}"/>
              </a:ext>
            </a:extLst>
          </p:cNvPr>
          <p:cNvSpPr>
            <a:spLocks noGrp="1"/>
          </p:cNvSpPr>
          <p:nvPr>
            <p:ph type="title"/>
          </p:nvPr>
        </p:nvSpPr>
        <p:spPr>
          <a:xfrm>
            <a:off x="1015375" y="186717"/>
            <a:ext cx="10364451" cy="867383"/>
          </a:xfrm>
        </p:spPr>
        <p:txBody>
          <a:bodyPr/>
          <a:lstStyle/>
          <a:p>
            <a:r>
              <a:rPr lang="en-US" dirty="0"/>
              <a:t>Model Exploration: Tree-based</a:t>
            </a:r>
          </a:p>
        </p:txBody>
      </p:sp>
      <p:sp>
        <p:nvSpPr>
          <p:cNvPr id="3" name="Content Placeholder 2">
            <a:extLst>
              <a:ext uri="{FF2B5EF4-FFF2-40B4-BE49-F238E27FC236}">
                <a16:creationId xmlns:a16="http://schemas.microsoft.com/office/drawing/2014/main" id="{98B92E3B-6403-3F3D-DF39-102497F8D5C4}"/>
              </a:ext>
            </a:extLst>
          </p:cNvPr>
          <p:cNvSpPr>
            <a:spLocks noGrp="1"/>
          </p:cNvSpPr>
          <p:nvPr>
            <p:ph sz="quarter" idx="13"/>
          </p:nvPr>
        </p:nvSpPr>
        <p:spPr>
          <a:xfrm>
            <a:off x="1016000" y="977184"/>
            <a:ext cx="10363826" cy="1290508"/>
          </a:xfrm>
        </p:spPr>
        <p:txBody>
          <a:bodyPr>
            <a:normAutofit lnSpcReduction="10000"/>
          </a:bodyPr>
          <a:lstStyle/>
          <a:p>
            <a:r>
              <a:rPr lang="en-US" dirty="0"/>
              <a:t>Model: Random Forest Classifier</a:t>
            </a:r>
          </a:p>
          <a:p>
            <a:r>
              <a:rPr lang="en-US" dirty="0"/>
              <a:t>Tuning &amp; Setup: Grid Search on </a:t>
            </a:r>
            <a:r>
              <a:rPr lang="en-US" dirty="0" err="1"/>
              <a:t>n_estimators</a:t>
            </a:r>
            <a:r>
              <a:rPr lang="en-US" dirty="0"/>
              <a:t>, </a:t>
            </a:r>
            <a:r>
              <a:rPr lang="en-US" dirty="0" err="1"/>
              <a:t>max_depth</a:t>
            </a:r>
            <a:r>
              <a:rPr lang="en-US" dirty="0"/>
              <a:t>, </a:t>
            </a:r>
            <a:r>
              <a:rPr lang="en-US" dirty="0" err="1"/>
              <a:t>min_samples_leaf</a:t>
            </a:r>
            <a:r>
              <a:rPr lang="en-US" dirty="0"/>
              <a:t> to prevent overfitting on high-dimensional text data.</a:t>
            </a:r>
          </a:p>
          <a:p>
            <a:endParaRPr lang="en-US" dirty="0"/>
          </a:p>
        </p:txBody>
      </p:sp>
      <p:sp>
        <p:nvSpPr>
          <p:cNvPr id="9" name="TextBox 8">
            <a:extLst>
              <a:ext uri="{FF2B5EF4-FFF2-40B4-BE49-F238E27FC236}">
                <a16:creationId xmlns:a16="http://schemas.microsoft.com/office/drawing/2014/main" id="{B54AD4BC-2C2B-561D-95A6-D114F87ED896}"/>
              </a:ext>
            </a:extLst>
          </p:cNvPr>
          <p:cNvSpPr txBox="1"/>
          <p:nvPr/>
        </p:nvSpPr>
        <p:spPr>
          <a:xfrm>
            <a:off x="7186649" y="3163492"/>
            <a:ext cx="4193177" cy="29494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Pros: Captures non-linear feature interactions (e.g., "high-tech term + specific length = popular"); yields higher global accuracy.</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Cons: Interpretability issue; biased towards majority classes (Popular, Ignored) despite balancing attempts.</a:t>
            </a:r>
          </a:p>
        </p:txBody>
      </p:sp>
      <p:pic>
        <p:nvPicPr>
          <p:cNvPr id="4" name="Picture 3">
            <a:extLst>
              <a:ext uri="{FF2B5EF4-FFF2-40B4-BE49-F238E27FC236}">
                <a16:creationId xmlns:a16="http://schemas.microsoft.com/office/drawing/2014/main" id="{25A446E2-C6BF-F7B7-1132-B9985EE1FF03}"/>
              </a:ext>
            </a:extLst>
          </p:cNvPr>
          <p:cNvPicPr>
            <a:picLocks noChangeAspect="1"/>
          </p:cNvPicPr>
          <p:nvPr/>
        </p:nvPicPr>
        <p:blipFill>
          <a:blip r:embed="rId3"/>
          <a:stretch>
            <a:fillRect/>
          </a:stretch>
        </p:blipFill>
        <p:spPr>
          <a:xfrm>
            <a:off x="335676" y="2202964"/>
            <a:ext cx="7772400" cy="1033388"/>
          </a:xfrm>
          <a:prstGeom prst="rect">
            <a:avLst/>
          </a:prstGeom>
        </p:spPr>
      </p:pic>
      <p:pic>
        <p:nvPicPr>
          <p:cNvPr id="5" name="Picture 4">
            <a:extLst>
              <a:ext uri="{FF2B5EF4-FFF2-40B4-BE49-F238E27FC236}">
                <a16:creationId xmlns:a16="http://schemas.microsoft.com/office/drawing/2014/main" id="{80491977-E581-1623-C2B5-7A7FA584A552}"/>
              </a:ext>
            </a:extLst>
          </p:cNvPr>
          <p:cNvPicPr>
            <a:picLocks noChangeAspect="1"/>
          </p:cNvPicPr>
          <p:nvPr/>
        </p:nvPicPr>
        <p:blipFill>
          <a:blip r:embed="rId4"/>
          <a:stretch>
            <a:fillRect/>
          </a:stretch>
        </p:blipFill>
        <p:spPr>
          <a:xfrm>
            <a:off x="1301701" y="3395630"/>
            <a:ext cx="5372231" cy="2485186"/>
          </a:xfrm>
          <a:prstGeom prst="rect">
            <a:avLst/>
          </a:prstGeom>
        </p:spPr>
      </p:pic>
    </p:spTree>
    <p:extLst>
      <p:ext uri="{BB962C8B-B14F-4D97-AF65-F5344CB8AC3E}">
        <p14:creationId xmlns:p14="http://schemas.microsoft.com/office/powerpoint/2010/main" val="4249843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AB24-F324-7AD0-EE58-280339176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E7C29-FB17-5DC6-88D0-483B4C55000F}"/>
              </a:ext>
            </a:extLst>
          </p:cNvPr>
          <p:cNvSpPr>
            <a:spLocks noGrp="1"/>
          </p:cNvSpPr>
          <p:nvPr>
            <p:ph type="title"/>
          </p:nvPr>
        </p:nvSpPr>
        <p:spPr>
          <a:xfrm>
            <a:off x="913775" y="618517"/>
            <a:ext cx="10364451" cy="791183"/>
          </a:xfrm>
        </p:spPr>
        <p:txBody>
          <a:bodyPr/>
          <a:lstStyle/>
          <a:p>
            <a:r>
              <a:rPr lang="en-US" dirty="0"/>
              <a:t>Model Performance Comparison</a:t>
            </a:r>
          </a:p>
        </p:txBody>
      </p:sp>
      <p:sp>
        <p:nvSpPr>
          <p:cNvPr id="3" name="Content Placeholder 2">
            <a:extLst>
              <a:ext uri="{FF2B5EF4-FFF2-40B4-BE49-F238E27FC236}">
                <a16:creationId xmlns:a16="http://schemas.microsoft.com/office/drawing/2014/main" id="{47F687AB-D7C1-DD36-C610-21FA3FE66500}"/>
              </a:ext>
            </a:extLst>
          </p:cNvPr>
          <p:cNvSpPr>
            <a:spLocks noGrp="1"/>
          </p:cNvSpPr>
          <p:nvPr>
            <p:ph sz="quarter" idx="13"/>
          </p:nvPr>
        </p:nvSpPr>
        <p:spPr>
          <a:xfrm>
            <a:off x="1104405" y="1455044"/>
            <a:ext cx="10363826" cy="3123091"/>
          </a:xfrm>
        </p:spPr>
        <p:txBody>
          <a:bodyPr>
            <a:normAutofit fontScale="92500" lnSpcReduction="20000"/>
          </a:bodyPr>
          <a:lstStyle/>
          <a:p>
            <a:r>
              <a:rPr lang="en-US" sz="2400" dirty="0"/>
              <a:t>The Accuracy vs. F1 Trade-off:</a:t>
            </a:r>
          </a:p>
          <a:p>
            <a:pPr lvl="1"/>
            <a:r>
              <a:rPr lang="en-US" sz="2200" dirty="0"/>
              <a:t>RF (Overall Accuracy Winner): 45% Accuracy. Excellent at predicting majority classes (Popular Recall: 0.66).</a:t>
            </a:r>
          </a:p>
          <a:p>
            <a:pPr lvl="1"/>
            <a:r>
              <a:rPr lang="en-US" sz="2200" dirty="0" err="1"/>
              <a:t>Softmax</a:t>
            </a:r>
            <a:r>
              <a:rPr lang="en-US" sz="2200" dirty="0"/>
              <a:t> Regression (Macro F1 Winner): Macro F1 = 0.35 (vs. RF 0.33).</a:t>
            </a:r>
          </a:p>
          <a:p>
            <a:r>
              <a:rPr lang="en-US" sz="2400" dirty="0"/>
              <a:t>Capturing Nuanced Dynamics:</a:t>
            </a:r>
          </a:p>
          <a:p>
            <a:pPr lvl="1"/>
            <a:r>
              <a:rPr lang="en-US" sz="2200" dirty="0" err="1"/>
              <a:t>Softmax</a:t>
            </a:r>
            <a:r>
              <a:rPr lang="en-US" sz="2200" dirty="0"/>
              <a:t> outperformed RF in minority classes.</a:t>
            </a:r>
          </a:p>
          <a:p>
            <a:pPr lvl="1"/>
            <a:r>
              <a:rPr lang="en-US" sz="2200" dirty="0"/>
              <a:t>Controversial F1: 0.19 (LR) vs. 0.16 (RF).</a:t>
            </a:r>
          </a:p>
          <a:p>
            <a:pPr lvl="1"/>
            <a:r>
              <a:rPr lang="en-US" sz="2200" dirty="0"/>
              <a:t>Consensus Recall: 0.21 (LR) vs. 0.07 (RF).</a:t>
            </a:r>
          </a:p>
          <a:p>
            <a:endParaRPr lang="en-US" sz="2400" dirty="0"/>
          </a:p>
        </p:txBody>
      </p:sp>
      <p:pic>
        <p:nvPicPr>
          <p:cNvPr id="5" name="Picture 4">
            <a:extLst>
              <a:ext uri="{FF2B5EF4-FFF2-40B4-BE49-F238E27FC236}">
                <a16:creationId xmlns:a16="http://schemas.microsoft.com/office/drawing/2014/main" id="{FC666EDE-DE9E-55A1-67C8-E52DC7A2AFA0}"/>
              </a:ext>
            </a:extLst>
          </p:cNvPr>
          <p:cNvPicPr>
            <a:picLocks noChangeAspect="1"/>
          </p:cNvPicPr>
          <p:nvPr/>
        </p:nvPicPr>
        <p:blipFill>
          <a:blip r:embed="rId3"/>
          <a:stretch>
            <a:fillRect/>
          </a:stretch>
        </p:blipFill>
        <p:spPr>
          <a:xfrm>
            <a:off x="1905001" y="4699000"/>
            <a:ext cx="4190999" cy="1953087"/>
          </a:xfrm>
          <a:prstGeom prst="rect">
            <a:avLst/>
          </a:prstGeom>
        </p:spPr>
      </p:pic>
      <p:pic>
        <p:nvPicPr>
          <p:cNvPr id="6" name="Picture 5">
            <a:extLst>
              <a:ext uri="{FF2B5EF4-FFF2-40B4-BE49-F238E27FC236}">
                <a16:creationId xmlns:a16="http://schemas.microsoft.com/office/drawing/2014/main" id="{FE3D88F6-8E64-F527-2B91-5AA0FD56423F}"/>
              </a:ext>
            </a:extLst>
          </p:cNvPr>
          <p:cNvPicPr>
            <a:picLocks noChangeAspect="1"/>
          </p:cNvPicPr>
          <p:nvPr/>
        </p:nvPicPr>
        <p:blipFill>
          <a:blip r:embed="rId4"/>
          <a:stretch>
            <a:fillRect/>
          </a:stretch>
        </p:blipFill>
        <p:spPr>
          <a:xfrm>
            <a:off x="7137400" y="4648651"/>
            <a:ext cx="4330831" cy="2003436"/>
          </a:xfrm>
          <a:prstGeom prst="rect">
            <a:avLst/>
          </a:prstGeom>
        </p:spPr>
      </p:pic>
      <p:sp>
        <p:nvSpPr>
          <p:cNvPr id="8" name="TextBox 7">
            <a:extLst>
              <a:ext uri="{FF2B5EF4-FFF2-40B4-BE49-F238E27FC236}">
                <a16:creationId xmlns:a16="http://schemas.microsoft.com/office/drawing/2014/main" id="{1F5D6104-76C3-A814-588D-11F59541BACB}"/>
              </a:ext>
            </a:extLst>
          </p:cNvPr>
          <p:cNvSpPr txBox="1"/>
          <p:nvPr/>
        </p:nvSpPr>
        <p:spPr>
          <a:xfrm rot="16200000">
            <a:off x="690397" y="5500663"/>
            <a:ext cx="2003436"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Regression</a:t>
            </a:r>
          </a:p>
        </p:txBody>
      </p:sp>
      <p:sp>
        <p:nvSpPr>
          <p:cNvPr id="9" name="TextBox 8">
            <a:extLst>
              <a:ext uri="{FF2B5EF4-FFF2-40B4-BE49-F238E27FC236}">
                <a16:creationId xmlns:a16="http://schemas.microsoft.com/office/drawing/2014/main" id="{5657DD2E-4DC0-B96B-92A0-5CFBADB277EB}"/>
              </a:ext>
            </a:extLst>
          </p:cNvPr>
          <p:cNvSpPr txBox="1"/>
          <p:nvPr/>
        </p:nvSpPr>
        <p:spPr>
          <a:xfrm rot="16200000">
            <a:off x="5781739" y="5321600"/>
            <a:ext cx="2003436" cy="707886"/>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Random Forest</a:t>
            </a:r>
          </a:p>
        </p:txBody>
      </p:sp>
    </p:spTree>
    <p:extLst>
      <p:ext uri="{BB962C8B-B14F-4D97-AF65-F5344CB8AC3E}">
        <p14:creationId xmlns:p14="http://schemas.microsoft.com/office/powerpoint/2010/main" val="3594389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A03B-D3AA-C0F3-D6F0-158414B1BDAC}"/>
              </a:ext>
            </a:extLst>
          </p:cNvPr>
          <p:cNvSpPr>
            <a:spLocks noGrp="1"/>
          </p:cNvSpPr>
          <p:nvPr>
            <p:ph type="title"/>
          </p:nvPr>
        </p:nvSpPr>
        <p:spPr>
          <a:xfrm>
            <a:off x="913774" y="215900"/>
            <a:ext cx="10364451" cy="664183"/>
          </a:xfrm>
        </p:spPr>
        <p:txBody>
          <a:bodyPr/>
          <a:lstStyle/>
          <a:p>
            <a:r>
              <a:rPr lang="en-US" dirty="0"/>
              <a:t>Error Analysis</a:t>
            </a:r>
          </a:p>
        </p:txBody>
      </p:sp>
      <p:sp>
        <p:nvSpPr>
          <p:cNvPr id="3" name="Content Placeholder 2">
            <a:extLst>
              <a:ext uri="{FF2B5EF4-FFF2-40B4-BE49-F238E27FC236}">
                <a16:creationId xmlns:a16="http://schemas.microsoft.com/office/drawing/2014/main" id="{1396D5DD-1481-FA07-6ABF-C411C02A007A}"/>
              </a:ext>
            </a:extLst>
          </p:cNvPr>
          <p:cNvSpPr>
            <a:spLocks noGrp="1"/>
          </p:cNvSpPr>
          <p:nvPr>
            <p:ph sz="quarter" idx="13"/>
          </p:nvPr>
        </p:nvSpPr>
        <p:spPr>
          <a:xfrm>
            <a:off x="254000" y="675388"/>
            <a:ext cx="11785600" cy="1238828"/>
          </a:xfrm>
        </p:spPr>
        <p:txBody>
          <a:bodyPr>
            <a:normAutofit/>
          </a:bodyPr>
          <a:lstStyle/>
          <a:p>
            <a:r>
              <a:rPr lang="en-US" dirty="0"/>
              <a:t>Where Models Fail Collectively: </a:t>
            </a:r>
          </a:p>
          <a:p>
            <a:pPr lvl="1"/>
            <a:r>
              <a:rPr lang="en-US" dirty="0"/>
              <a:t>Blind spot for Pragmatics: Both failed to classify "Interactive Hooks" (e.g., direct questions, roleplay setups). Predicted Ignored instead of actual Controversial.</a:t>
            </a:r>
          </a:p>
          <a:p>
            <a:endParaRPr lang="en-US" dirty="0"/>
          </a:p>
        </p:txBody>
      </p:sp>
      <p:pic>
        <p:nvPicPr>
          <p:cNvPr id="5" name="Picture 4">
            <a:extLst>
              <a:ext uri="{FF2B5EF4-FFF2-40B4-BE49-F238E27FC236}">
                <a16:creationId xmlns:a16="http://schemas.microsoft.com/office/drawing/2014/main" id="{440F728A-ED4A-A1E7-7E8A-EF1FD511D212}"/>
              </a:ext>
            </a:extLst>
          </p:cNvPr>
          <p:cNvPicPr>
            <a:picLocks noChangeAspect="1"/>
          </p:cNvPicPr>
          <p:nvPr/>
        </p:nvPicPr>
        <p:blipFill>
          <a:blip r:embed="rId3"/>
          <a:stretch>
            <a:fillRect/>
          </a:stretch>
        </p:blipFill>
        <p:spPr>
          <a:xfrm>
            <a:off x="2108199" y="1825316"/>
            <a:ext cx="7772400" cy="1707572"/>
          </a:xfrm>
          <a:prstGeom prst="rect">
            <a:avLst/>
          </a:prstGeom>
        </p:spPr>
      </p:pic>
      <p:sp>
        <p:nvSpPr>
          <p:cNvPr id="6" name="Content Placeholder 2">
            <a:extLst>
              <a:ext uri="{FF2B5EF4-FFF2-40B4-BE49-F238E27FC236}">
                <a16:creationId xmlns:a16="http://schemas.microsoft.com/office/drawing/2014/main" id="{2D6990DD-D4D1-5292-3249-17C8FE32DE0F}"/>
              </a:ext>
            </a:extLst>
          </p:cNvPr>
          <p:cNvSpPr txBox="1">
            <a:spLocks/>
          </p:cNvSpPr>
          <p:nvPr/>
        </p:nvSpPr>
        <p:spPr>
          <a:xfrm>
            <a:off x="254000" y="3380488"/>
            <a:ext cx="11658599" cy="158506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none" baseline="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none" baseline="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r>
              <a:rPr lang="en-US" dirty="0"/>
              <a:t>Where Models Diverge:</a:t>
            </a:r>
          </a:p>
          <a:p>
            <a:pPr lvl="1"/>
            <a:r>
              <a:rPr lang="en-US" dirty="0"/>
              <a:t>LR's Weakness: Misled by aggressive vocabulary (e.g., "broken"). Predicts Controversial when it's actually Popular tech-sharing.</a:t>
            </a:r>
          </a:p>
          <a:p>
            <a:pPr lvl="1"/>
            <a:r>
              <a:rPr lang="en-US" dirty="0"/>
              <a:t>RF's Strength: Successfully recognizes non-linear interactions (Assertive Hook + Solution/Tool = Popular).</a:t>
            </a:r>
          </a:p>
        </p:txBody>
      </p:sp>
      <p:pic>
        <p:nvPicPr>
          <p:cNvPr id="7" name="Picture 6">
            <a:extLst>
              <a:ext uri="{FF2B5EF4-FFF2-40B4-BE49-F238E27FC236}">
                <a16:creationId xmlns:a16="http://schemas.microsoft.com/office/drawing/2014/main" id="{91FE234B-BDD7-42B8-48F9-928B99583DE7}"/>
              </a:ext>
            </a:extLst>
          </p:cNvPr>
          <p:cNvPicPr>
            <a:picLocks noChangeAspect="1"/>
          </p:cNvPicPr>
          <p:nvPr/>
        </p:nvPicPr>
        <p:blipFill>
          <a:blip r:embed="rId4"/>
          <a:stretch>
            <a:fillRect/>
          </a:stretch>
        </p:blipFill>
        <p:spPr>
          <a:xfrm>
            <a:off x="2108199" y="4965556"/>
            <a:ext cx="7772400" cy="1676544"/>
          </a:xfrm>
          <a:prstGeom prst="rect">
            <a:avLst/>
          </a:prstGeom>
        </p:spPr>
      </p:pic>
    </p:spTree>
    <p:extLst>
      <p:ext uri="{BB962C8B-B14F-4D97-AF65-F5344CB8AC3E}">
        <p14:creationId xmlns:p14="http://schemas.microsoft.com/office/powerpoint/2010/main" val="1193013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72EC-ECF8-31C3-62D9-7C100B80FE00}"/>
              </a:ext>
            </a:extLst>
          </p:cNvPr>
          <p:cNvSpPr>
            <a:spLocks noGrp="1"/>
          </p:cNvSpPr>
          <p:nvPr>
            <p:ph type="title"/>
          </p:nvPr>
        </p:nvSpPr>
        <p:spPr/>
        <p:txBody>
          <a:bodyPr/>
          <a:lstStyle/>
          <a:p>
            <a:r>
              <a:rPr lang="en-US" dirty="0"/>
              <a:t>Possible Solutions</a:t>
            </a:r>
          </a:p>
        </p:txBody>
      </p:sp>
      <p:sp>
        <p:nvSpPr>
          <p:cNvPr id="3" name="Content Placeholder 2">
            <a:extLst>
              <a:ext uri="{FF2B5EF4-FFF2-40B4-BE49-F238E27FC236}">
                <a16:creationId xmlns:a16="http://schemas.microsoft.com/office/drawing/2014/main" id="{C9D2CCCB-6432-867B-24C2-6B522900C2E9}"/>
              </a:ext>
            </a:extLst>
          </p:cNvPr>
          <p:cNvSpPr>
            <a:spLocks noGrp="1"/>
          </p:cNvSpPr>
          <p:nvPr>
            <p:ph sz="quarter" idx="13"/>
          </p:nvPr>
        </p:nvSpPr>
        <p:spPr>
          <a:xfrm>
            <a:off x="913774" y="2214694"/>
            <a:ext cx="10363826" cy="3424107"/>
          </a:xfrm>
        </p:spPr>
        <p:txBody>
          <a:bodyPr/>
          <a:lstStyle/>
          <a:p>
            <a:r>
              <a:rPr lang="en-US" dirty="0"/>
              <a:t>To Improve Model Performance:</a:t>
            </a:r>
          </a:p>
          <a:p>
            <a:r>
              <a:rPr lang="en-US" dirty="0"/>
              <a:t>1. Semantic Embeddings: Transition from TF-IDF to Contextual Language Models (e.g., BERT/ OpenAI) to capture irony, syntax, and intent.</a:t>
            </a:r>
          </a:p>
          <a:p>
            <a:r>
              <a:rPr lang="en-US" dirty="0"/>
              <a:t>2. Linguistic Features: Engineer structural features (e.g., count of question marks, pronoun usage) to detect interactive hooks.</a:t>
            </a:r>
          </a:p>
          <a:p>
            <a:r>
              <a:rPr lang="en-US" dirty="0"/>
              <a:t>3. Network Metadata: Integrate user-level features (follower count, account age) to account for the "celebrity effect" in engagement.</a:t>
            </a:r>
          </a:p>
          <a:p>
            <a:endParaRPr lang="en-US" dirty="0"/>
          </a:p>
          <a:p>
            <a:endParaRPr lang="en-US" dirty="0"/>
          </a:p>
        </p:txBody>
      </p:sp>
    </p:spTree>
    <p:extLst>
      <p:ext uri="{BB962C8B-B14F-4D97-AF65-F5344CB8AC3E}">
        <p14:creationId xmlns:p14="http://schemas.microsoft.com/office/powerpoint/2010/main" val="1100501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23C5C-1EF4-F74A-1EDB-3369CDAFAB40}"/>
              </a:ext>
            </a:extLst>
          </p:cNvPr>
          <p:cNvSpPr>
            <a:spLocks noGrp="1"/>
          </p:cNvSpPr>
          <p:nvPr>
            <p:ph type="title"/>
          </p:nvPr>
        </p:nvSpPr>
        <p:spPr>
          <a:xfrm>
            <a:off x="1028075" y="123217"/>
            <a:ext cx="10364451" cy="664183"/>
          </a:xfrm>
        </p:spPr>
        <p:txBody>
          <a:bodyPr/>
          <a:lstStyle/>
          <a:p>
            <a:r>
              <a:rPr lang="en-US" dirty="0"/>
              <a:t>Answer to the Research Question</a:t>
            </a:r>
          </a:p>
        </p:txBody>
      </p:sp>
      <p:pic>
        <p:nvPicPr>
          <p:cNvPr id="4" name="Content Placeholder 3">
            <a:extLst>
              <a:ext uri="{FF2B5EF4-FFF2-40B4-BE49-F238E27FC236}">
                <a16:creationId xmlns:a16="http://schemas.microsoft.com/office/drawing/2014/main" id="{F23B85E4-6284-42B0-5F58-B3CA657AC3B9}"/>
              </a:ext>
            </a:extLst>
          </p:cNvPr>
          <p:cNvPicPr>
            <a:picLocks noGrp="1" noChangeAspect="1"/>
          </p:cNvPicPr>
          <p:nvPr>
            <p:ph sz="quarter" idx="13"/>
          </p:nvPr>
        </p:nvPicPr>
        <p:blipFill>
          <a:blip r:embed="rId3"/>
          <a:stretch>
            <a:fillRect/>
          </a:stretch>
        </p:blipFill>
        <p:spPr>
          <a:xfrm>
            <a:off x="3847387" y="787400"/>
            <a:ext cx="8344613" cy="6055867"/>
          </a:xfrm>
          <a:prstGeom prst="rect">
            <a:avLst/>
          </a:prstGeom>
        </p:spPr>
      </p:pic>
      <p:pic>
        <p:nvPicPr>
          <p:cNvPr id="5" name="Picture 4">
            <a:extLst>
              <a:ext uri="{FF2B5EF4-FFF2-40B4-BE49-F238E27FC236}">
                <a16:creationId xmlns:a16="http://schemas.microsoft.com/office/drawing/2014/main" id="{8D30037B-A09D-F95D-DCD8-E8B1E69F17F1}"/>
              </a:ext>
            </a:extLst>
          </p:cNvPr>
          <p:cNvPicPr>
            <a:picLocks noChangeAspect="1"/>
          </p:cNvPicPr>
          <p:nvPr/>
        </p:nvPicPr>
        <p:blipFill>
          <a:blip r:embed="rId4"/>
          <a:stretch>
            <a:fillRect/>
          </a:stretch>
        </p:blipFill>
        <p:spPr>
          <a:xfrm>
            <a:off x="-13163" y="828967"/>
            <a:ext cx="3988940" cy="2600033"/>
          </a:xfrm>
          <a:prstGeom prst="rect">
            <a:avLst/>
          </a:prstGeom>
        </p:spPr>
      </p:pic>
      <p:sp>
        <p:nvSpPr>
          <p:cNvPr id="6" name="Content Placeholder 2">
            <a:extLst>
              <a:ext uri="{FF2B5EF4-FFF2-40B4-BE49-F238E27FC236}">
                <a16:creationId xmlns:a16="http://schemas.microsoft.com/office/drawing/2014/main" id="{A850FDCE-D16E-0F3D-09F6-DC6BA8A59A9F}"/>
              </a:ext>
            </a:extLst>
          </p:cNvPr>
          <p:cNvSpPr txBox="1">
            <a:spLocks/>
          </p:cNvSpPr>
          <p:nvPr/>
        </p:nvSpPr>
        <p:spPr>
          <a:xfrm>
            <a:off x="115226" y="3470567"/>
            <a:ext cx="3758487"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none" baseline="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none" baseline="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r>
              <a:rPr lang="en-US" dirty="0"/>
              <a:t>Drivers of controversial:</a:t>
            </a:r>
          </a:p>
          <a:p>
            <a:pPr lvl="1"/>
            <a:r>
              <a:rPr lang="en-US" dirty="0"/>
              <a:t>Direct interactive hooks</a:t>
            </a:r>
          </a:p>
          <a:p>
            <a:pPr lvl="1"/>
            <a:r>
              <a:rPr lang="en-US" dirty="0"/>
              <a:t>Open-ended philosophical Ai topics</a:t>
            </a:r>
          </a:p>
          <a:p>
            <a:r>
              <a:rPr lang="en-US" dirty="0"/>
              <a:t>Drivers of popular:</a:t>
            </a:r>
          </a:p>
          <a:p>
            <a:pPr lvl="1"/>
            <a:r>
              <a:rPr lang="en-US" dirty="0"/>
              <a:t>Pragmatic, solution-oriented sharing</a:t>
            </a:r>
          </a:p>
          <a:p>
            <a:pPr lvl="1"/>
            <a:r>
              <a:rPr lang="en-US" dirty="0"/>
              <a:t>No generic buzzwords</a:t>
            </a:r>
          </a:p>
          <a:p>
            <a:endParaRPr lang="en-US" dirty="0"/>
          </a:p>
          <a:p>
            <a:endParaRPr lang="en-US" dirty="0"/>
          </a:p>
        </p:txBody>
      </p:sp>
    </p:spTree>
    <p:extLst>
      <p:ext uri="{BB962C8B-B14F-4D97-AF65-F5344CB8AC3E}">
        <p14:creationId xmlns:p14="http://schemas.microsoft.com/office/powerpoint/2010/main" val="58278174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Droplet</Template>
  <TotalTime>342</TotalTime>
  <Words>1037</Words>
  <Application>Microsoft Macintosh PowerPoint</Application>
  <PresentationFormat>Widescreen</PresentationFormat>
  <Paragraphs>118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Tw Cen MT</vt:lpstr>
      <vt:lpstr>Droplet</vt:lpstr>
      <vt:lpstr>Decoding Social Dynamics in AI Agent Communities: Use Machine Learning to Predict Engagement in Moltbook</vt:lpstr>
      <vt:lpstr>Motivation</vt:lpstr>
      <vt:lpstr>Research Question</vt:lpstr>
      <vt:lpstr>Machine Learning Task Formation</vt:lpstr>
      <vt:lpstr>Workflow &amp; Pipeline</vt:lpstr>
      <vt:lpstr>Data Processing, Feature Engineering, EDA</vt:lpstr>
      <vt:lpstr>Data Processing, Feature Engineering, EDA</vt:lpstr>
      <vt:lpstr>Feature Engineering with Exploration of Unsupervised Learning (LDA)</vt:lpstr>
      <vt:lpstr>Model Exploration: Regression</vt:lpstr>
      <vt:lpstr>Model Exploration: Tree-based</vt:lpstr>
      <vt:lpstr>Model Performance Comparison</vt:lpstr>
      <vt:lpstr>Error Analysis</vt:lpstr>
      <vt:lpstr>Possible Solutions</vt:lpstr>
      <vt:lpstr>Answer to the Research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Jingwen Lu</dc:creator>
  <cp:lastModifiedBy>Jingwen Lu</cp:lastModifiedBy>
  <cp:revision>6</cp:revision>
  <dcterms:created xsi:type="dcterms:W3CDTF">2026-03-08T18:38:42Z</dcterms:created>
  <dcterms:modified xsi:type="dcterms:W3CDTF">2026-03-20T05:26:54Z</dcterms:modified>
</cp:coreProperties>
</file>